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b89b2f3f7944636" /><Relationship Type="http://schemas.openxmlformats.org/officeDocument/2006/relationships/extended-properties" Target="/docProps/app.xml" Id="R49f61de47c8f426c" /><Relationship Type="http://schemas.openxmlformats.org/officeDocument/2006/relationships/officeDocument" Target="/ppt/presentation.xml" Id="Rc9ebc0cd9aa947e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a1c93bd8a144d61"/>
  </p:sldMasterIdLst>
  <p:notesMasterIdLst>
    <p:notesMasterId xmlns:r="http://schemas.openxmlformats.org/officeDocument/2006/relationships" r:id="R37f07bb66c074e10"/>
  </p:notesMasterIdLst>
  <p:sldIdLst>
    <p:sldId xmlns:r="http://schemas.openxmlformats.org/officeDocument/2006/relationships" id="256" r:id="Re16732e8485a42b5"/>
    <p:sldId xmlns:r="http://schemas.openxmlformats.org/officeDocument/2006/relationships" id="257" r:id="R061704c916474ece"/>
    <p:sldId xmlns:r="http://schemas.openxmlformats.org/officeDocument/2006/relationships" id="258" r:id="R80b34778e95c460e"/>
    <p:sldId xmlns:r="http://schemas.openxmlformats.org/officeDocument/2006/relationships" id="259" r:id="R4983e07e6f7a4520"/>
    <p:sldId xmlns:r="http://schemas.openxmlformats.org/officeDocument/2006/relationships" id="260" r:id="Rb349c22a888f4baa"/>
    <p:sldId xmlns:r="http://schemas.openxmlformats.org/officeDocument/2006/relationships" id="261" r:id="R2e9710937efa439a"/>
    <p:sldId xmlns:r="http://schemas.openxmlformats.org/officeDocument/2006/relationships" id="262" r:id="R8458b96829794b00"/>
    <p:sldId xmlns:r="http://schemas.openxmlformats.org/officeDocument/2006/relationships" id="263" r:id="R5db96cafa26e475a"/>
    <p:sldId xmlns:r="http://schemas.openxmlformats.org/officeDocument/2006/relationships" id="264" r:id="R3cab6f8051994407"/>
    <p:sldId xmlns:r="http://schemas.openxmlformats.org/officeDocument/2006/relationships" id="265" r:id="Rb61b42cb43d34a44"/>
    <p:sldId xmlns:r="http://schemas.openxmlformats.org/officeDocument/2006/relationships" id="266" r:id="R5b89c766b6cd4636"/>
    <p:sldId xmlns:r="http://schemas.openxmlformats.org/officeDocument/2006/relationships" id="267" r:id="R9e053e26c2c84f67"/>
    <p:sldId xmlns:r="http://schemas.openxmlformats.org/officeDocument/2006/relationships" id="268" r:id="Rfca46c78476e43da"/>
    <p:sldId xmlns:r="http://schemas.openxmlformats.org/officeDocument/2006/relationships" id="269" r:id="R368fbacadf6c4878"/>
    <p:sldId xmlns:r="http://schemas.openxmlformats.org/officeDocument/2006/relationships" id="270" r:id="R5c966dc42ac348f8"/>
    <p:sldId xmlns:r="http://schemas.openxmlformats.org/officeDocument/2006/relationships" id="271" r:id="R4cbcc31b31bb4a0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9279e65b3894dbd" /><Relationship Type="http://schemas.openxmlformats.org/officeDocument/2006/relationships/slideMaster" Target="/ppt/slideMasters/slideMaster1.xml" Id="R0a1c93bd8a144d61" /><Relationship Type="http://schemas.openxmlformats.org/officeDocument/2006/relationships/notesMaster" Target="/ppt/notesMasters/notesMaster1.xml" Id="R37f07bb66c074e10" /><Relationship Type="http://schemas.openxmlformats.org/officeDocument/2006/relationships/presProps" Target="/ppt/presProps.xml" Id="R472b3cd58c094bcd" /><Relationship Type="http://schemas.openxmlformats.org/officeDocument/2006/relationships/tableStyles" Target="/ppt/tableStyles.xml" Id="R9a376fde28c64ff6" /><Relationship Type="http://schemas.openxmlformats.org/officeDocument/2006/relationships/slide" Target="/ppt/slides/slide1.xml" Id="Re16732e8485a42b5" /><Relationship Type="http://schemas.openxmlformats.org/officeDocument/2006/relationships/slide" Target="/ppt/slides/slide2.xml" Id="R061704c916474ece" /><Relationship Type="http://schemas.openxmlformats.org/officeDocument/2006/relationships/slide" Target="/ppt/slides/slide3.xml" Id="R80b34778e95c460e" /><Relationship Type="http://schemas.openxmlformats.org/officeDocument/2006/relationships/slide" Target="/ppt/slides/slide4.xml" Id="R4983e07e6f7a4520" /><Relationship Type="http://schemas.openxmlformats.org/officeDocument/2006/relationships/slide" Target="/ppt/slides/slide5.xml" Id="Rb349c22a888f4baa" /><Relationship Type="http://schemas.openxmlformats.org/officeDocument/2006/relationships/slide" Target="/ppt/slides/slide6.xml" Id="R2e9710937efa439a" /><Relationship Type="http://schemas.openxmlformats.org/officeDocument/2006/relationships/slide" Target="/ppt/slides/slide7.xml" Id="R8458b96829794b00" /><Relationship Type="http://schemas.openxmlformats.org/officeDocument/2006/relationships/slide" Target="/ppt/slides/slide8.xml" Id="R5db96cafa26e475a" /><Relationship Type="http://schemas.openxmlformats.org/officeDocument/2006/relationships/slide" Target="/ppt/slides/slide9.xml" Id="R3cab6f8051994407" /><Relationship Type="http://schemas.openxmlformats.org/officeDocument/2006/relationships/slide" Target="/ppt/slides/slide10.xml" Id="Rb61b42cb43d34a44" /><Relationship Type="http://schemas.openxmlformats.org/officeDocument/2006/relationships/slide" Target="/ppt/slides/slide11.xml" Id="R5b89c766b6cd4636" /><Relationship Type="http://schemas.openxmlformats.org/officeDocument/2006/relationships/slide" Target="/ppt/slides/slide12.xml" Id="R9e053e26c2c84f67" /><Relationship Type="http://schemas.openxmlformats.org/officeDocument/2006/relationships/slide" Target="/ppt/slides/slide13.xml" Id="Rfca46c78476e43da" /><Relationship Type="http://schemas.openxmlformats.org/officeDocument/2006/relationships/slide" Target="/ppt/slides/slide14.xml" Id="R368fbacadf6c4878" /><Relationship Type="http://schemas.openxmlformats.org/officeDocument/2006/relationships/slide" Target="/ppt/slides/slide15.xml" Id="R5c966dc42ac348f8" /><Relationship Type="http://schemas.openxmlformats.org/officeDocument/2006/relationships/slide" Target="/ppt/slides/slide16.xml" Id="R4cbcc31b31bb4a0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e582ac911c34b7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9d2665cf546447c" /><Relationship Type="http://schemas.openxmlformats.org/officeDocument/2006/relationships/notesMaster" Target="/ppt/notesMasters/notesMaster1.xml" Id="R4320c220f3d34a7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3ff750da8834077" /><Relationship Type="http://schemas.openxmlformats.org/officeDocument/2006/relationships/notesMaster" Target="/ppt/notesMasters/notesMaster1.xml" Id="R7ef937f74a93493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8c3700371b149a2" /><Relationship Type="http://schemas.openxmlformats.org/officeDocument/2006/relationships/notesMaster" Target="/ppt/notesMasters/notesMaster1.xml" Id="Rcb982595d2e34de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d30af6b1b424f67" /><Relationship Type="http://schemas.openxmlformats.org/officeDocument/2006/relationships/notesMaster" Target="/ppt/notesMasters/notesMaster1.xml" Id="Rf9444be456e94fb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2e102ab4f424867" /><Relationship Type="http://schemas.openxmlformats.org/officeDocument/2006/relationships/notesMaster" Target="/ppt/notesMasters/notesMaster1.xml" Id="Rba7cbe6c00914aa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677ab596abd4560" /><Relationship Type="http://schemas.openxmlformats.org/officeDocument/2006/relationships/notesMaster" Target="/ppt/notesMasters/notesMaster1.xml" Id="R83ee62fcfb5345b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d8125e5e5584389" /><Relationship Type="http://schemas.openxmlformats.org/officeDocument/2006/relationships/notesMaster" Target="/ppt/notesMasters/notesMaster1.xml" Id="Raaebdacc96074e7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f08e44783704a8e" /><Relationship Type="http://schemas.openxmlformats.org/officeDocument/2006/relationships/notesMaster" Target="/ppt/notesMasters/notesMaster1.xml" Id="Rac2472c840d341d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ee7d8dc55c642d9" /><Relationship Type="http://schemas.openxmlformats.org/officeDocument/2006/relationships/notesMaster" Target="/ppt/notesMasters/notesMaster1.xml" Id="Ra0e1f4bc1c2e406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a77ad24a5c94505" /><Relationship Type="http://schemas.openxmlformats.org/officeDocument/2006/relationships/notesMaster" Target="/ppt/notesMasters/notesMaster1.xml" Id="R3dca42dbd48e419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56e4e04a8dc4a61" /><Relationship Type="http://schemas.openxmlformats.org/officeDocument/2006/relationships/notesMaster" Target="/ppt/notesMasters/notesMaster1.xml" Id="R7c8ef291e4c9420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68c2b2a96334fc7" /><Relationship Type="http://schemas.openxmlformats.org/officeDocument/2006/relationships/notesMaster" Target="/ppt/notesMasters/notesMaster1.xml" Id="R5573b1abfe2e4b4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244fb380f484cb3" /><Relationship Type="http://schemas.openxmlformats.org/officeDocument/2006/relationships/notesMaster" Target="/ppt/notesMasters/notesMaster1.xml" Id="Ra49e3b661a16463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cb941012c394d80" /><Relationship Type="http://schemas.openxmlformats.org/officeDocument/2006/relationships/notesMaster" Target="/ppt/notesMasters/notesMaster1.xml" Id="R33316581fa7c481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e47ddc0d1774378" /><Relationship Type="http://schemas.openxmlformats.org/officeDocument/2006/relationships/notesMaster" Target="/ppt/notesMasters/notesMaster1.xml" Id="R28c4ae919ff14c8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d29e0e9d1b5409f" /><Relationship Type="http://schemas.openxmlformats.org/officeDocument/2006/relationships/notesMaster" Target="/ppt/notesMasters/notesMaster1.xml" Id="Ra3b711e06e8c403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本项目计划实现能够接收中文指令并控制游戏角色的 Agent。语言模型参数固定，学习发生在外部经验与技能记忆中。重点考察配方变化后经验能否更新。本次汇报是开题方案，不包含本组已完成实验结果。成员与指导教师信息待填写。建议本页 25 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玩家的一条请求同时包含目标、数量和资源约束。整合包改变配方后，模型的原版知识可能失效。表中的配方仅作受控实验示例，不能作为实际游戏规则引用。系统应依据当前规则规划，并复用经过验证的经验。建议 35 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Voyager 通过自动课程、技能程序库与反馈修正实现无微调的能力积累。Reflexion 通过语言反馈与情景记忆指导后续尝试。本项目借鉴这两类思想，将研究问题收敛到规则变化下的经验验证与更新，不把加入记忆宣称为首创。右图为 Voyager 官方原图，属于相关工作说明，不是本组系统或实验结果。</a:t>
            </a:r>
          </a:p>
          <a:p xmlns:a="http://schemas.openxmlformats.org/drawingml/2006/main">
            <a:r>
              <a:t>来源：https://arxiv.org/abs/2305.16291</a:t>
            </a:r>
          </a:p>
          <a:p xmlns:a="http://schemas.openxmlformats.org/drawingml/2006/main">
            <a:r>
              <a:t>https://arxiv.org/abs/2303.11366</a:t>
            </a:r>
          </a:p>
          <a:p xmlns:a="http://schemas.openxmlformats.org/drawingml/2006/main">
            <a:r>
              <a:t>配图：https://raw.githubusercontent.com/MineDojo/Voyager/main/images/pull.png</a:t>
            </a:r>
          </a:p>
          <a:p xmlns:a="http://schemas.openxmlformats.org/drawingml/2006/main">
            <a:r>
              <a:t>建议 45 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Q1 关注重复错误，Q2 关注相似但未见任务，Q3 关注规则变化。三者均需消融验证。项目固定模型参数，观察结构化状态，先做同版本受控环境。复杂机器和跨加载器兼容不属于第一版验收范围。建议 35 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候选底座为 MineMind 的模组采集、合成与交付接口。项目处于早期阶段，规划提示词包含 Reclamation 特定规则。第一周必须复现基本执行链，不能将文档能力视为已验证事实。Mindcraft 的官方 FAQ 明确不支持改变机制的模组，因此只作为交互参考。</a:t>
            </a:r>
          </a:p>
          <a:p xmlns:a="http://schemas.openxmlformats.org/drawingml/2006/main">
            <a:r>
              <a:t>来源：https://github.com/Boyan253/minemind</a:t>
            </a:r>
          </a:p>
          <a:p xmlns:a="http://schemas.openxmlformats.org/drawingml/2006/main">
            <a:r>
              <a:t>https://github.com/Boyan253/minemind/blob/master/agent/prompts.py</a:t>
            </a:r>
          </a:p>
          <a:p xmlns:a="http://schemas.openxmlformats.org/drawingml/2006/main">
            <a:r>
              <a:t>https://github.com/mindcraft-bots/mindcraft/blob/develop/FAQ.md</a:t>
            </a:r>
          </a:p>
          <a:p xmlns:a="http://schemas.openxmlformats.org/drawingml/2006/main">
            <a:r>
              <a:t>建议 40 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知识获取与经验学习分别处理。读取配方提供当前规则，情景记忆保存执行证据，技能记忆抽象可复用流程。模型保持固定，行为改善来自持久记忆和检索决策。任何未经验证的失败解释仍是猜测，不能直接写成规则。建议 35 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每次尝试先保存完整轨迹，LLM 只负责提出解释和流程摘要。检查器通过库存与状态差分验证。将数量、物品和位置参数化，并在独立重置场景验证候选技能。初版计划采用两次独立复现作为晋升条件，该阈值在开发集确定，最终测试前冻结。建议 35 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每条技能关联实际依赖的配方与标签指纹。更新配置时仅标记相关技能，而非清空整个经验库。调用前重新检查条件，执行中验证效果，必要时停止后续步骤并重新规划。旧版本保留，以便回到原环境时复验。该机制的收益属于待检验假设。建议 40 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拟定的演示流程，没有实验结果。场景为自定义配方配置。第一次任务形成候选经验，之后在独立场景复验。相似任务改变数量或材料实例以检验复用。最后修改技能依赖的配方，展示旧经验标记、重新查询和新版本验证。建议 35 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四个版本共享模型、实时配方查询、反馈重规划、观察与执行器。B0 在单回合内可以修正，但没有跨回合记忆。B1 加情景记忆，B2 加技能复用，B3 加依赖指纹与失效检查。由此区分记忆、技能抽象和更新机制的增益。建议 40 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评测为十二任务、三环境、四版本、三组初始条件，共四百三十二回合，属于计划数量。适应阶段与规则变化序列另计。固定环境测试冻结记忆快照，重置背包、位置、容器与世界条件。规则变化实验允许在线更新，但使用相同任务顺序、相同预算和独立记忆副本。建议 45 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必须同时报告成功与代价。自主成功要求目标及全部约束满足，人工代做单列。重复错误的分母限定在可匹配已有经验的决策，过期技能误用限定为规则变化影响的技能。适应采用逐轮表现与累计错误，不虚设已经达到的改善百分比。成功率报告分子分母及 Wilson 区间，方法差异采用配对分析。建议 35 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项目计划使用现有游戏硬件及模型 API，不申请训练 GPU。费用情景为432回合，每回合20次调用，每次6000输入和800输出tokens，合计51.84M输入和6.912M输出。按每百万输入0.30美元、输出2.50美元计算为32.832美元。该单价是计算示例，尚未锁定模型，也不代表实测费用。适应、预实验、重试和推理输出另计，暂设150美元调用预算上限，实际实施前按预实验调整。</a:t>
            </a:r>
          </a:p>
          <a:p xmlns:a="http://schemas.openxmlformats.org/drawingml/2006/main">
            <a:r>
              <a:t>价格参考：https://ai.google.dev/gemini-api/docs/pricing</a:t>
            </a:r>
          </a:p>
          <a:p xmlns:a="http://schemas.openxmlformats.org/drawingml/2006/main">
            <a:r>
              <a:t>建议 30 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建议进度，不代表用户已确认实际课程期限。第一周优先消除底座风险，第二周获得无记忆基线，第三周完成经验记忆，第四周完成技能复用，第五周完成失效检查，第六周冻结方法并评测。若底座失败，降级为相同版本的最小桥接与受控场景，不扩展复杂机器。建议 30 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创新定位是可控制规则变化中的经验依赖表示、证据验证和更新策略，不宣称技能库或模组兼容首创。最低验收为可运行原型、可追溯记忆、真实规则变化案例与四版本消融。没有预设提升百分比，负结果也需要给出检索、记忆污染与执行器限制的解释。建议 35 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访问日期为2026年10月27日。更多来源和项目边界见配套开题报告。当前仍需小组填写成员、指导教师、实际截止日期，并在第一周复现后锁定执行底座和模型。项目源码需固定提交版本。结束时可讨论任务范围和评测规模。建议 15 秒。</a:t>
            </a:r>
          </a:p>
          <a:p xmlns:a="http://schemas.openxmlformats.org/drawingml/2006/main">
            <a:r>
              <a:t>完整来源：</a:t>
            </a:r>
          </a:p>
          <a:p xmlns:a="http://schemas.openxmlformats.org/drawingml/2006/main">
            <a:r>
              <a:t>https://arxiv.org/abs/2305.16291</a:t>
            </a:r>
          </a:p>
          <a:p xmlns:a="http://schemas.openxmlformats.org/drawingml/2006/main">
            <a:r>
              <a:t>https://arxiv.org/abs/2303.11366</a:t>
            </a:r>
          </a:p>
          <a:p xmlns:a="http://schemas.openxmlformats.org/drawingml/2006/main">
            <a:r>
              <a:t>https://github.com/mindcraft-bots/mindcraft/blob/develop/FAQ.md</a:t>
            </a:r>
          </a:p>
          <a:p xmlns:a="http://schemas.openxmlformats.org/drawingml/2006/main">
            <a:r>
              <a:t>https://github.com/Boyan253/minemind</a:t>
            </a:r>
          </a:p>
          <a:p xmlns:a="http://schemas.openxmlformats.org/drawingml/2006/main">
            <a:r>
              <a:t>https://github.com/Boyan253/minemind/blob/master/agent/prompts.py</a:t>
            </a:r>
          </a:p>
          <a:p xmlns:a="http://schemas.openxmlformats.org/drawingml/2006/main">
            <a:r>
              <a:t>https://ai.google.dev/gemini-api/docs/pricing</a:t>
            </a:r>
          </a:p>
          <a:p xmlns:a="http://schemas.openxmlformats.org/drawingml/2006/main">
            <a:r>
              <a:t>https://raw.githubusercontent.com/MineDojo/Voyager/main/images/pull.png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3cea3bb30c4bd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4fb21379454de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16c5937ae54c9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c9a59e19db4e3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8affd964fb473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7001b3d16c420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5DFA066-741D-48D4-8313-E16BA6D768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3FF1A2A-EEEC-44F9-BE3D-4D86A8EB212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0DF28B7-29EE-41E1-A27B-3F001919D7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172A576-446E-477E-A8EC-A6388F92CF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277AA64-E75A-4E45-8A09-0566C8F4E2A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24B0E48-B49C-40DA-9D1A-7F8EEDD25A7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02E1C50-4F15-4F53-97D5-722C0DA1067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2732FE5-09A7-4F6B-B8A3-973C34C45F0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BFB2940-5D1D-4092-9810-E7C7FAAB3E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B3E11D8-87AA-4858-956B-535211E8DA1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1deba9e635b408d" /><Relationship Type="http://schemas.openxmlformats.org/officeDocument/2006/relationships/slideLayout" Target="/ppt/slideLayouts/slideLayout1.xml" Id="R75e35a3a0ae54433" /><Relationship Type="http://schemas.openxmlformats.org/officeDocument/2006/relationships/slideLayout" Target="/ppt/slideLayouts/slideLayout2.xml" Id="Ra1c8d3ae05434583" /><Relationship Type="http://schemas.openxmlformats.org/officeDocument/2006/relationships/slideLayout" Target="/ppt/slideLayouts/slideLayout3.xml" Id="R2df7590bd9cc4e52" /><Relationship Type="http://schemas.openxmlformats.org/officeDocument/2006/relationships/slideLayout" Target="/ppt/slideLayouts/slideLayout4.xml" Id="Rc7cc5f3a380148b5" /><Relationship Type="http://schemas.openxmlformats.org/officeDocument/2006/relationships/slideLayout" Target="/ppt/slideLayouts/slideLayout5.xml" Id="R24700f4ddede474e" /><Relationship Type="http://schemas.openxmlformats.org/officeDocument/2006/relationships/slideLayout" Target="/ppt/slideLayouts/slideLayout6.xml" Id="Rfddd602bd5e8471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5e35a3a0ae54433"/>
    <p:sldLayoutId xmlns:r="http://schemas.openxmlformats.org/officeDocument/2006/relationships" id="2147483650" r:id="Ra1c8d3ae05434583"/>
    <p:sldLayoutId xmlns:r="http://schemas.openxmlformats.org/officeDocument/2006/relationships" id="2147483651" r:id="R2df7590bd9cc4e52"/>
    <p:sldLayoutId xmlns:r="http://schemas.openxmlformats.org/officeDocument/2006/relationships" id="2147483652" r:id="Rc7cc5f3a380148b5"/>
    <p:sldLayoutId xmlns:r="http://schemas.openxmlformats.org/officeDocument/2006/relationships" id="2147483653" r:id="R24700f4ddede474e"/>
    <p:sldLayoutId xmlns:r="http://schemas.openxmlformats.org/officeDocument/2006/relationships" id="2147483654" r:id="Rfddd602bd5e8471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9933151e6645d5" /><Relationship Type="http://schemas.openxmlformats.org/officeDocument/2006/relationships/notesSlide" Target="/ppt/notesSlides/notesSlide1.xml" Id="R3e4048c6205b4af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b7e71edf764a05" /><Relationship Type="http://schemas.openxmlformats.org/officeDocument/2006/relationships/notesSlide" Target="/ppt/notesSlides/notesSlide2.xml" Id="R738bab050e5a40a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f3a2cc6f1346c6" /><Relationship Type="http://schemas.openxmlformats.org/officeDocument/2006/relationships/image" Target="/ppt/media/image.png" Id="R5e95cf9b73b04988" /><Relationship Type="http://schemas.openxmlformats.org/officeDocument/2006/relationships/notesSlide" Target="/ppt/notesSlides/notesSlide3.xml" Id="Rbd1ef33fbdb2448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e569992c334aa8" /><Relationship Type="http://schemas.openxmlformats.org/officeDocument/2006/relationships/notesSlide" Target="/ppt/notesSlides/notesSlide4.xml" Id="R4c08c2a694ca46d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6da7230f4d049cb" /><Relationship Type="http://schemas.openxmlformats.org/officeDocument/2006/relationships/notesSlide" Target="/ppt/notesSlides/notesSlide5.xml" Id="R972654a56af94e0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b67b70944e84060" /><Relationship Type="http://schemas.openxmlformats.org/officeDocument/2006/relationships/notesSlide" Target="/ppt/notesSlides/notesSlide6.xml" Id="R21ac2224a088490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e3fb5f55e24189" /><Relationship Type="http://schemas.openxmlformats.org/officeDocument/2006/relationships/notesSlide" Target="/ppt/notesSlides/notesSlide7.xml" Id="R4d366547741d476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abb02900c54234" /><Relationship Type="http://schemas.openxmlformats.org/officeDocument/2006/relationships/notesSlide" Target="/ppt/notesSlides/notesSlide8.xml" Id="R89512c9a74364ce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da8978000b448b" /><Relationship Type="http://schemas.openxmlformats.org/officeDocument/2006/relationships/notesSlide" Target="/ppt/notesSlides/notesSlide9.xml" Id="R002848a8dc0b4c0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6a13c46f2c4aab" /><Relationship Type="http://schemas.openxmlformats.org/officeDocument/2006/relationships/notesSlide" Target="/ppt/notesSlides/notesSlide10.xml" Id="R9a695340626d43b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a2817179ee450c" /><Relationship Type="http://schemas.openxmlformats.org/officeDocument/2006/relationships/notesSlide" Target="/ppt/notesSlides/notesSlide11.xml" Id="Rb8313ed558c1454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6ef9919ebc4b8b" /><Relationship Type="http://schemas.openxmlformats.org/officeDocument/2006/relationships/notesSlide" Target="/ppt/notesSlides/notesSlide12.xml" Id="R949c44390f4c4df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268240a6c6c4779" /><Relationship Type="http://schemas.openxmlformats.org/officeDocument/2006/relationships/notesSlide" Target="/ppt/notesSlides/notesSlide13.xml" Id="Rdd17918a57aa4b9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6e37ce9ce0e4b66" /><Relationship Type="http://schemas.openxmlformats.org/officeDocument/2006/relationships/notesSlide" Target="/ppt/notesSlides/notesSlide14.xml" Id="R65794a2da53c419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ccbacd2fb54d64" /><Relationship Type="http://schemas.openxmlformats.org/officeDocument/2006/relationships/notesSlide" Target="/ppt/notesSlides/notesSlide15.xml" Id="R5b0a5290719f492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285dace7df4795" /><Relationship Type="http://schemas.openxmlformats.org/officeDocument/2006/relationships/notesSlide" Target="/ppt/notesSlides/notesSlide16.xml" Id="Ra5b374f48324456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D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930211ED-B893-48F8-8A25-C76122811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B9D9C6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buNone/>
              <a:defRPr sz="1875" b="0">
                <a:solidFill>
                  <a:srgbClr val="B9D9C6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buNone/>
              <a:defRPr sz="1875" b="0">
                <a:solidFill>
                  <a:srgbClr val="B9D9C6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buNone/>
              <a:defRPr sz="1875" b="0">
                <a:solidFill>
                  <a:srgbClr val="B9D9C6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buNone/>
              <a:defRPr sz="1875" b="0">
                <a:solidFill>
                  <a:srgbClr val="B9D9C6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buNone/>
              <a:defRPr sz="1875" b="0">
                <a:solidFill>
                  <a:srgbClr val="B9D9C6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buNone/>
              <a:defRPr sz="1875" b="0">
                <a:solidFill>
                  <a:srgbClr val="B9D9C6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buNone/>
              <a:defRPr sz="1875" b="0">
                <a:solidFill>
                  <a:srgbClr val="B9D9C6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buNone/>
              <a:defRPr sz="1875" b="0">
                <a:solidFill>
                  <a:srgbClr val="B9D9C6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buNone/>
              <a:defRPr sz="1875" b="0">
                <a:solidFill>
                  <a:srgbClr val="B9D9C6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B9D9C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B9D9C6"/>
                </a:solidFill>
                <a:latin typeface="Noto Sans CJK SC"/>
                <a:ea typeface="Noto Sans CJK SC"/>
                <a:cs typeface="Noto Sans CJK SC"/>
              </a:rPr>
              <a:t>自然语言处理课程项目开题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7859C3CA-EACC-400B-9BAA-AB3F5F2BB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1081087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buNone/>
              <a:defRPr sz="4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buNone/>
              <a:defRPr sz="4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buNone/>
              <a:defRPr sz="4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buNone/>
              <a:defRPr sz="4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buNone/>
              <a:defRPr sz="4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buNone/>
              <a:defRPr sz="4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buNone/>
              <a:defRPr sz="4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buNone/>
              <a:defRPr sz="4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buNone/>
              <a:defRPr sz="4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4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4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Minecraft 整合包</a:t>
            </a:r>
          </a:p>
          <a:p xmlns:a="http://schemas.openxmlformats.org/drawingml/2006/main">
            <a:pPr algn="l">
              <a:buNone/>
              <a:defRPr sz="4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4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经验学习型 Agent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DF2AF250-AA23-4ECB-A5AC-3DA0924AE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52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C9E5D4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buNone/>
              <a:defRPr sz="2400" b="0">
                <a:solidFill>
                  <a:srgbClr val="C9E5D4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buNone/>
              <a:defRPr sz="2400" b="0">
                <a:solidFill>
                  <a:srgbClr val="C9E5D4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buNone/>
              <a:defRPr sz="2400" b="0">
                <a:solidFill>
                  <a:srgbClr val="C9E5D4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buNone/>
              <a:defRPr sz="2400" b="0">
                <a:solidFill>
                  <a:srgbClr val="C9E5D4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buNone/>
              <a:defRPr sz="2400" b="0">
                <a:solidFill>
                  <a:srgbClr val="C9E5D4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buNone/>
              <a:defRPr sz="2400" b="0">
                <a:solidFill>
                  <a:srgbClr val="C9E5D4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buNone/>
              <a:defRPr sz="2400" b="0">
                <a:solidFill>
                  <a:srgbClr val="C9E5D4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buNone/>
              <a:defRPr sz="2400" b="0">
                <a:solidFill>
                  <a:srgbClr val="C9E5D4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buNone/>
              <a:defRPr sz="2400" b="0">
                <a:solidFill>
                  <a:srgbClr val="C9E5D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2400" b="0">
                <a:solidFill>
                  <a:srgbClr val="C9E5D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0">
                <a:solidFill>
                  <a:srgbClr val="C9E5D4"/>
                </a:solidFill>
                <a:latin typeface="Noto Sans CJK SC"/>
                <a:ea typeface="Noto Sans CJK SC"/>
                <a:cs typeface="Noto Sans CJK SC"/>
              </a:rPr>
              <a:t>基于执行反馈的技能积累与规则变化适应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486CB501-CFDE-43B7-936B-DA3BFA161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57825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B9D9C6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buNone/>
              <a:defRPr sz="1725" b="0">
                <a:solidFill>
                  <a:srgbClr val="B9D9C6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buNone/>
              <a:defRPr sz="1725" b="0">
                <a:solidFill>
                  <a:srgbClr val="B9D9C6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buNone/>
              <a:defRPr sz="1725" b="0">
                <a:solidFill>
                  <a:srgbClr val="B9D9C6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buNone/>
              <a:defRPr sz="1725" b="0">
                <a:solidFill>
                  <a:srgbClr val="B9D9C6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buNone/>
              <a:defRPr sz="1725" b="0">
                <a:solidFill>
                  <a:srgbClr val="B9D9C6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buNone/>
              <a:defRPr sz="1725" b="0">
                <a:solidFill>
                  <a:srgbClr val="B9D9C6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buNone/>
              <a:defRPr sz="1725" b="0">
                <a:solidFill>
                  <a:srgbClr val="B9D9C6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buNone/>
              <a:defRPr sz="1725" b="0">
                <a:solidFill>
                  <a:srgbClr val="B9D9C6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buNone/>
              <a:defRPr sz="1725" b="0">
                <a:solidFill>
                  <a:srgbClr val="B9D9C6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B9D9C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B9D9C6"/>
                </a:solidFill>
                <a:latin typeface="Noto Sans CJK SC"/>
                <a:ea typeface="Noto Sans CJK SC"/>
                <a:cs typeface="Noto Sans CJK SC"/>
              </a:rPr>
              <a:t>小组成员［填写］    指导教师［填写］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931F7570-51BF-4F8A-BF64-2B4F0815E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626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B9D9C6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buNone/>
              <a:defRPr sz="1500" b="0">
                <a:solidFill>
                  <a:srgbClr val="B9D9C6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buNone/>
              <a:defRPr sz="1500" b="0">
                <a:solidFill>
                  <a:srgbClr val="B9D9C6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buNone/>
              <a:defRPr sz="1500" b="0">
                <a:solidFill>
                  <a:srgbClr val="B9D9C6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buNone/>
              <a:defRPr sz="1500" b="0">
                <a:solidFill>
                  <a:srgbClr val="B9D9C6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buNone/>
              <a:defRPr sz="1500" b="0">
                <a:solidFill>
                  <a:srgbClr val="B9D9C6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buNone/>
              <a:defRPr sz="1500" b="0">
                <a:solidFill>
                  <a:srgbClr val="B9D9C6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buNone/>
              <a:defRPr sz="1500" b="0">
                <a:solidFill>
                  <a:srgbClr val="B9D9C6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buNone/>
              <a:defRPr sz="1500" b="0">
                <a:solidFill>
                  <a:srgbClr val="B9D9C6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buNone/>
              <a:defRPr sz="1500" b="0">
                <a:solidFill>
                  <a:srgbClr val="B9D9C6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B9D9C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B9D9C6"/>
                </a:solidFill>
                <a:latin typeface="Noto Sans CJK SC"/>
                <a:ea typeface="Noto Sans CJK SC"/>
                <a:cs typeface="Noto Sans CJK SC"/>
              </a:rPr>
              <a:t>开题方案    建议汇报时长 8–10 分钟</a:t>
            </a:r>
          </a:p>
        </p:txBody>
      </p:sp>
    </p:spTree>
    <p:extLst>
      <p:ext uri="{BB962C8B-B14F-4D97-AF65-F5344CB8AC3E}">
        <p14:creationId xmlns:p14="http://schemas.microsoft.com/office/powerpoint/2010/main" val="29192045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4B7F74EA-8577-4ECA-BDDA-0D2CE8B9E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8966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buNone/>
              <a:defRPr sz="3300" b="1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buNone/>
              <a:defRPr sz="3300" b="1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buNone/>
              <a:defRPr sz="3300" b="1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buNone/>
              <a:defRPr sz="3300" b="1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buNone/>
              <a:defRPr sz="3300" b="1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buNone/>
              <a:defRPr sz="3300" b="1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buNone/>
              <a:defRPr sz="3300" b="1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buNone/>
              <a:defRPr sz="3300" b="1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buNone/>
              <a:defRPr sz="3300" b="1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rPr>
              <a:t>研究动机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8E481CB1-65A9-403B-80BA-9FCB428C2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3412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buNone/>
              <a:defRPr sz="12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buNone/>
              <a:defRPr sz="12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buNone/>
              <a:defRPr sz="12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buNone/>
              <a:defRPr sz="12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buNone/>
              <a:defRPr sz="12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buNone/>
              <a:defRPr sz="12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buNone/>
              <a:defRPr sz="12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buNone/>
              <a:defRPr sz="12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buNone/>
              <a:defRPr sz="12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4A34F7C-DBC5-4D71-9D10-F863195D2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57325"/>
            <a:ext cx="10810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buNone/>
              <a:defRPr sz="2850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buNone/>
              <a:defRPr sz="2850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buNone/>
              <a:defRPr sz="2850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buNone/>
              <a:defRPr sz="2850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buNone/>
              <a:defRPr sz="2850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buNone/>
              <a:defRPr sz="2850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buNone/>
              <a:defRPr sz="2850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buNone/>
              <a:defRPr sz="2850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buNone/>
              <a:defRPr sz="2850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2850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50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rPr>
              <a:t>“帮我做两个箱子，但保留四块木板”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41551C-EB5D-4246-B38D-735EF43CA574}"/>
              </a:ext>
            </a:extLst>
          </p:cNvPr>
          <p:cNvGraphicFramePr/>
          <p:nvPr/>
        </p:nvGraphicFramePr>
        <p:xfrm>
          <a:off xmlns:a="http://schemas.openxmlformats.org/drawingml/2006/main" x="666750" y="2505075"/>
          <a:ext xmlns:a="http://schemas.openxmlformats.org/drawingml/2006/main" cx="10858500" cy="2743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4095750"/>
                <a:gridCol w="4381500"/>
              </a:tblGrid>
              <a:tr h="685800">
                <a:tc>
                  <a:txBody>
                    <a:bodyPr lIns="152400" tIns="133350" rIns="133350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环境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6CF"/>
                      </a:solidFill>
                      <a:prstDash val="solid"/>
                    </a:lnL>
                    <a:lnR w="9525">
                      <a:solidFill>
                        <a:srgbClr val="C8D6CF"/>
                      </a:solidFill>
                      <a:prstDash val="solid"/>
                    </a:lnR>
                    <a:lnT w="9525">
                      <a:solidFill>
                        <a:srgbClr val="C8D6CF"/>
                      </a:solidFill>
                      <a:prstDash val="solid"/>
                    </a:lnT>
                    <a:lnB w="9525">
                      <a:solidFill>
                        <a:srgbClr val="C8D6CF"/>
                      </a:solidFill>
                      <a:prstDash val="solid"/>
                    </a:lnB>
                    <a:solidFill>
                      <a:srgbClr val="102D29"/>
                    </a:solidFill>
                  </a:tcPr>
                </a:tc>
                <a:tc>
                  <a:txBody>
                    <a:bodyPr lIns="152400" tIns="133350" rIns="133350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规则变化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6CF"/>
                      </a:solidFill>
                      <a:prstDash val="solid"/>
                    </a:lnR>
                    <a:lnT w="9525">
                      <a:solidFill>
                        <a:srgbClr val="C8D6CF"/>
                      </a:solidFill>
                      <a:prstDash val="solid"/>
                    </a:lnT>
                    <a:lnB w="9525">
                      <a:solidFill>
                        <a:srgbClr val="C8D6CF"/>
                      </a:solidFill>
                      <a:prstDash val="solid"/>
                    </a:lnB>
                    <a:solidFill>
                      <a:srgbClr val="102D29"/>
                    </a:solidFill>
                  </a:tcPr>
                </a:tc>
                <a:tc>
                  <a:txBody>
                    <a:bodyPr lIns="152400" tIns="133350" rIns="133350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需要的适应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6CF"/>
                      </a:solidFill>
                      <a:prstDash val="solid"/>
                    </a:lnR>
                    <a:lnT w="9525">
                      <a:solidFill>
                        <a:srgbClr val="C8D6CF"/>
                      </a:solidFill>
                      <a:prstDash val="solid"/>
                    </a:lnT>
                    <a:lnB w="9525">
                      <a:solidFill>
                        <a:srgbClr val="C8D6CF"/>
                      </a:solidFill>
                      <a:prstDash val="solid"/>
                    </a:lnB>
                    <a:solidFill>
                      <a:srgbClr val="102D29"/>
                    </a:solidFill>
                  </a:tcPr>
                </a:tc>
              </a:tr>
              <a:tr h="685800">
                <a:tc>
                  <a:txBody>
                    <a:bodyPr lIns="152400" tIns="133350" rIns="1333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2A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E0 原版配置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6CF"/>
                      </a:solidFill>
                      <a:prstDash val="solid"/>
                    </a:lnL>
                    <a:lnR w="9525">
                      <a:solidFill>
                        <a:srgbClr val="C8D6CF"/>
                      </a:solidFill>
                      <a:prstDash val="solid"/>
                    </a:lnR>
                    <a:lnB w="9525">
                      <a:solidFill>
                        <a:srgbClr val="C8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133350" rIns="1333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2A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标准工作台配方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6CF"/>
                      </a:solidFill>
                      <a:prstDash val="solid"/>
                    </a:lnR>
                    <a:lnB w="9525">
                      <a:solidFill>
                        <a:srgbClr val="C8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133350" rIns="1333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2A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理解目标与保留约束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6CF"/>
                      </a:solidFill>
                      <a:prstDash val="solid"/>
                    </a:lnR>
                    <a:lnB w="9525">
                      <a:solidFill>
                        <a:srgbClr val="C8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52400" tIns="133350" rIns="1333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2A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E1 少量模组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6CF"/>
                      </a:solidFill>
                      <a:prstDash val="solid"/>
                    </a:lnL>
                    <a:lnR w="9525">
                      <a:solidFill>
                        <a:srgbClr val="C8D6CF"/>
                      </a:solidFill>
                      <a:prstDash val="solid"/>
                    </a:lnR>
                    <a:lnB w="9525">
                      <a:solidFill>
                        <a:srgbClr val="C8D6CF"/>
                      </a:solidFill>
                      <a:prstDash val="solid"/>
                    </a:lnB>
                    <a:solidFill>
                      <a:srgbClr val="E6EFE9"/>
                    </a:solidFill>
                  </a:tcPr>
                </a:tc>
                <a:tc>
                  <a:txBody>
                    <a:bodyPr lIns="152400" tIns="133350" rIns="1333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2A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新增物品与中间材料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6CF"/>
                      </a:solidFill>
                      <a:prstDash val="solid"/>
                    </a:lnR>
                    <a:lnB w="9525">
                      <a:solidFill>
                        <a:srgbClr val="C8D6CF"/>
                      </a:solidFill>
                      <a:prstDash val="solid"/>
                    </a:lnB>
                    <a:solidFill>
                      <a:srgbClr val="E6EFE9"/>
                    </a:solidFill>
                  </a:tcPr>
                </a:tc>
                <a:tc>
                  <a:txBody>
                    <a:bodyPr lIns="152400" tIns="133350" rIns="1333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2A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查询实际依赖与材料替代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6CF"/>
                      </a:solidFill>
                      <a:prstDash val="solid"/>
                    </a:lnR>
                    <a:lnB w="9525">
                      <a:solidFill>
                        <a:srgbClr val="C8D6CF"/>
                      </a:solidFill>
                      <a:prstDash val="solid"/>
                    </a:lnB>
                    <a:solidFill>
                      <a:srgbClr val="E6EFE9"/>
                    </a:solidFill>
                  </a:tcPr>
                </a:tc>
              </a:tr>
              <a:tr h="685800">
                <a:tc>
                  <a:txBody>
                    <a:bodyPr lIns="152400" tIns="133350" rIns="1333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2A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E2 修改配方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6CF"/>
                      </a:solidFill>
                      <a:prstDash val="solid"/>
                    </a:lnL>
                    <a:lnR w="9525">
                      <a:solidFill>
                        <a:srgbClr val="C8D6CF"/>
                      </a:solidFill>
                      <a:prstDash val="solid"/>
                    </a:lnR>
                    <a:lnB w="9525">
                      <a:solidFill>
                        <a:srgbClr val="C8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133350" rIns="1333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2A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数量或加工依赖发生变化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6CF"/>
                      </a:solidFill>
                      <a:prstDash val="solid"/>
                    </a:lnR>
                    <a:lnB w="9525">
                      <a:solidFill>
                        <a:srgbClr val="C8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133350" rIns="1333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2A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检查旧技能并更新流程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6CF"/>
                      </a:solidFill>
                      <a:prstDash val="solid"/>
                    </a:lnR>
                    <a:lnB w="9525">
                      <a:solidFill>
                        <a:srgbClr val="C8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AB4BF766-4CA8-404B-9E3C-B9E3DE4F2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buNone/>
              <a:defRPr sz="1500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buNone/>
              <a:defRPr sz="1500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buNone/>
              <a:defRPr sz="1500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buNone/>
              <a:defRPr sz="1500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buNone/>
              <a:defRPr sz="1500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buNone/>
              <a:defRPr sz="1500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buNone/>
              <a:defRPr sz="1500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buNone/>
              <a:defRPr sz="1500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buNone/>
              <a:defRPr sz="1500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rPr>
              <a:t>示例场景用于实验设计，尚无本项目实测结果</a:t>
            </a:r>
          </a:p>
        </p:txBody>
      </p:sp>
    </p:spTree>
    <p:extLst>
      <p:ext uri="{BB962C8B-B14F-4D97-AF65-F5344CB8AC3E}">
        <p14:creationId xmlns:p14="http://schemas.microsoft.com/office/powerpoint/2010/main" val="188001108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DC13A8B8-10C9-4A04-98D0-9C7AAB385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8966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buNone/>
              <a:defRPr sz="3300" b="1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buNone/>
              <a:defRPr sz="3300" b="1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buNone/>
              <a:defRPr sz="3300" b="1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buNone/>
              <a:defRPr sz="3300" b="1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buNone/>
              <a:defRPr sz="3300" b="1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buNone/>
              <a:defRPr sz="3300" b="1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buNone/>
              <a:defRPr sz="3300" b="1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buNone/>
              <a:defRPr sz="3300" b="1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buNone/>
              <a:defRPr sz="3300" b="1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rPr>
              <a:t>相关工作与研究空间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21F60CE3-F0A2-41A7-92F8-72EBC4DD7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3412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buNone/>
              <a:defRPr sz="12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buNone/>
              <a:defRPr sz="12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buNone/>
              <a:defRPr sz="12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buNone/>
              <a:defRPr sz="12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buNone/>
              <a:defRPr sz="12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buNone/>
              <a:defRPr sz="12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buNone/>
              <a:defRPr sz="12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buNone/>
              <a:defRPr sz="12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buNone/>
              <a:defRPr sz="12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8D447ABD-8AA4-42CD-AB7B-8F2F30F62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43050"/>
            <a:ext cx="304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buNone/>
              <a:defRPr sz="2475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buNone/>
              <a:defRPr sz="2475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buNone/>
              <a:defRPr sz="2475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buNone/>
              <a:defRPr sz="2475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buNone/>
              <a:defRPr sz="2475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buNone/>
              <a:defRPr sz="2475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buNone/>
              <a:defRPr sz="2475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buNone/>
              <a:defRPr sz="2475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buNone/>
              <a:defRPr sz="2475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2475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75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rPr>
              <a:t>Voyager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1F5E772D-4CC3-4EA8-9712-D4AFCF3EA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342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buNone/>
              <a:defRPr sz="1875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buNone/>
              <a:defRPr sz="1875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buNone/>
              <a:defRPr sz="1875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buNone/>
              <a:defRPr sz="1875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buNone/>
              <a:defRPr sz="1875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buNone/>
              <a:defRPr sz="1875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buNone/>
              <a:defRPr sz="1875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buNone/>
              <a:defRPr sz="1875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buNone/>
              <a:defRPr sz="1875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rPr>
              <a:t>积累可检索的技能程序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rPr>
              <a:t>使用执行反馈修正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EE8701C2-4D07-4ECB-A8C2-7A73CA85A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38525"/>
            <a:ext cx="304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buNone/>
              <a:defRPr sz="2475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buNone/>
              <a:defRPr sz="2475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buNone/>
              <a:defRPr sz="2475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buNone/>
              <a:defRPr sz="2475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buNone/>
              <a:defRPr sz="2475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buNone/>
              <a:defRPr sz="2475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buNone/>
              <a:defRPr sz="2475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buNone/>
              <a:defRPr sz="2475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buNone/>
              <a:defRPr sz="2475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2475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75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rPr>
              <a:t>Reflexion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BD60D022-117C-4211-B116-76C8D1659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81450"/>
            <a:ext cx="342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buNone/>
              <a:defRPr sz="1875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buNone/>
              <a:defRPr sz="1875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buNone/>
              <a:defRPr sz="1875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buNone/>
              <a:defRPr sz="1875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buNone/>
              <a:defRPr sz="1875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buNone/>
              <a:defRPr sz="1875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buNone/>
              <a:defRPr sz="1875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buNone/>
              <a:defRPr sz="1875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buNone/>
              <a:defRPr sz="1875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rPr>
              <a:t>保留反思经验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rPr>
              <a:t>改善后续任务决策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BBFA16-365E-4ACF-8517-9928A231925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95cf9b73b04988"/>
          <a:stretch xmlns:a="http://schemas.openxmlformats.org/drawingml/2006/main"/>
        </p:blipFill>
        <p:spPr>
          <a:xfrm xmlns:a="http://schemas.openxmlformats.org/drawingml/2006/main">
            <a:off x="4333875" y="1822655"/>
            <a:ext cx="7191375" cy="3022190"/>
          </a:xfrm>
          <a:prstGeom xmlns:a="http://schemas.openxmlformats.org/drawingml/2006/main" prst="rect">
            <a:avLst/>
          </a:prstGeom>
        </p:spPr>
      </p:pic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17BF8957-3952-42C9-8996-ACFF2F5DB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219700"/>
            <a:ext cx="4095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buNone/>
              <a:defRPr sz="12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buNone/>
              <a:defRPr sz="12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buNone/>
              <a:defRPr sz="12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buNone/>
              <a:defRPr sz="12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buNone/>
              <a:defRPr sz="12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buNone/>
              <a:defRPr sz="12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buNone/>
              <a:defRPr sz="12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buNone/>
              <a:defRPr sz="12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buNone/>
              <a:defRPr sz="12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rPr>
              <a:t>图示来自 Voyager 官方项目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5890F274-6BDF-46C5-92DC-9669013C8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buNone/>
              <a:defRPr sz="1500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buNone/>
              <a:defRPr sz="1500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buNone/>
              <a:defRPr sz="1500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buNone/>
              <a:defRPr sz="1500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buNone/>
              <a:defRPr sz="1500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buNone/>
              <a:defRPr sz="1500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buNone/>
              <a:defRPr sz="1500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buNone/>
              <a:defRPr sz="1500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buNone/>
              <a:defRPr sz="1500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rPr>
              <a:t>本项目关注：有证据的经验复用，以及规则变化后的失效检查</a:t>
            </a:r>
          </a:p>
        </p:txBody>
      </p:sp>
    </p:spTree>
    <p:extLst>
      <p:ext uri="{BB962C8B-B14F-4D97-AF65-F5344CB8AC3E}">
        <p14:creationId xmlns:p14="http://schemas.microsoft.com/office/powerpoint/2010/main" val="197053290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45018191-1FEE-4E76-9A8C-1BD70E15C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8966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buNone/>
              <a:defRPr sz="3300" b="1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buNone/>
              <a:defRPr sz="3300" b="1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buNone/>
              <a:defRPr sz="3300" b="1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buNone/>
              <a:defRPr sz="3300" b="1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buNone/>
              <a:defRPr sz="3300" b="1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buNone/>
              <a:defRPr sz="3300" b="1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buNone/>
              <a:defRPr sz="3300" b="1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buNone/>
              <a:defRPr sz="3300" b="1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buNone/>
              <a:defRPr sz="3300" b="1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rPr>
              <a:t>研究问题与项目范围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B0381D89-450C-49DD-B2A3-CF24E9AA3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3412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buNone/>
              <a:defRPr sz="12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buNone/>
              <a:defRPr sz="12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buNone/>
              <a:defRPr sz="12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buNone/>
              <a:defRPr sz="12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buNone/>
              <a:defRPr sz="12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buNone/>
              <a:defRPr sz="12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buNone/>
              <a:defRPr sz="12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buNone/>
              <a:defRPr sz="12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buNone/>
              <a:defRPr sz="12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rPr>
              <a:t>04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C907D22A-D915-4E54-AB5E-79264C926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859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buNone/>
              <a:defRPr sz="2175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buNone/>
              <a:defRPr sz="2175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buNone/>
              <a:defRPr sz="2175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buNone/>
              <a:defRPr sz="2175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buNone/>
              <a:defRPr sz="2175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buNone/>
              <a:defRPr sz="2175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buNone/>
              <a:defRPr sz="2175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buNone/>
              <a:defRPr sz="2175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buNone/>
              <a:defRPr sz="2175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2175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rPr>
              <a:t>Q1  经验记忆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FBC745A2-2C2B-4E1D-9D41-2E9927AD6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buNone/>
              <a:defRPr sz="1950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buNone/>
              <a:defRPr sz="1950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buNone/>
              <a:defRPr sz="1950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buNone/>
              <a:defRPr sz="1950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buNone/>
              <a:defRPr sz="1950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buNone/>
              <a:defRPr sz="1950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buNone/>
              <a:defRPr sz="1950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buNone/>
              <a:defRPr sz="1950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buNone/>
              <a:defRPr sz="1950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rPr>
              <a:t>经验证的经验，能否减少相似状态下的重复错误？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72900750-C857-40AE-8932-CDF1E0FA1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813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buNone/>
              <a:defRPr sz="2175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buNone/>
              <a:defRPr sz="2175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buNone/>
              <a:defRPr sz="2175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buNone/>
              <a:defRPr sz="2175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buNone/>
              <a:defRPr sz="2175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buNone/>
              <a:defRPr sz="2175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buNone/>
              <a:defRPr sz="2175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buNone/>
              <a:defRPr sz="2175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buNone/>
              <a:defRPr sz="2175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2175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rPr>
              <a:t>Q2  技能复用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1788626C-33D4-4303-83F5-AB9C7770F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48025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buNone/>
              <a:defRPr sz="1950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buNone/>
              <a:defRPr sz="1950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buNone/>
              <a:defRPr sz="1950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buNone/>
              <a:defRPr sz="1950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buNone/>
              <a:defRPr sz="1950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buNone/>
              <a:defRPr sz="1950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buNone/>
              <a:defRPr sz="1950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buNone/>
              <a:defRPr sz="1950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buNone/>
              <a:defRPr sz="1950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rPr>
              <a:t>带参数与条件的流程，能否迁移到未见任务？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B7249E8C-FC81-432D-874A-41192B915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767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buNone/>
              <a:defRPr sz="2175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buNone/>
              <a:defRPr sz="2175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buNone/>
              <a:defRPr sz="2175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buNone/>
              <a:defRPr sz="2175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buNone/>
              <a:defRPr sz="2175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buNone/>
              <a:defRPr sz="2175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buNone/>
              <a:defRPr sz="2175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buNone/>
              <a:defRPr sz="2175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buNone/>
              <a:defRPr sz="2175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2175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rPr>
              <a:t>Q3  规则变化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8727518F-10E1-477C-8DDB-D53B1706A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43425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buNone/>
              <a:defRPr sz="1950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buNone/>
              <a:defRPr sz="1950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buNone/>
              <a:defRPr sz="1950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buNone/>
              <a:defRPr sz="1950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buNone/>
              <a:defRPr sz="1950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buNone/>
              <a:defRPr sz="1950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buNone/>
              <a:defRPr sz="1950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buNone/>
              <a:defRPr sz="1950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buNone/>
              <a:defRPr sz="1950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rPr>
              <a:t>依赖检查，能否减少过期经验误用并加快适应？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CF649F87-449C-4787-9DB9-FF012C957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buNone/>
              <a:defRPr sz="1500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buNone/>
              <a:defRPr sz="1500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buNone/>
              <a:defRPr sz="1500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buNone/>
              <a:defRPr sz="1500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buNone/>
              <a:defRPr sz="1500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buNone/>
              <a:defRPr sz="1500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buNone/>
              <a:defRPr sz="1500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buNone/>
              <a:defRPr sz="1500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buNone/>
              <a:defRPr sz="1500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rPr>
              <a:t>固定模型参数    单 Agent    同游戏版本与加载器    结构化状态</a:t>
            </a:r>
          </a:p>
        </p:txBody>
      </p:sp>
    </p:spTree>
    <p:extLst>
      <p:ext uri="{BB962C8B-B14F-4D97-AF65-F5344CB8AC3E}">
        <p14:creationId xmlns:p14="http://schemas.microsoft.com/office/powerpoint/2010/main" val="50023300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">
            <a:extLst xmlns:a="http://schemas.openxmlformats.org/drawingml/2006/main">
              <a:ext uri="{FF2B5EF4-FFF2-40B4-BE49-F238E27FC236}">
                <a16:creationId xmlns:a16="http://schemas.microsoft.com/office/drawing/2014/main" id="{456D72BF-917E-4A74-A54B-717A0A02D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8966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buNone/>
              <a:defRPr sz="3300" b="1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buNone/>
              <a:defRPr sz="3300" b="1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buNone/>
              <a:defRPr sz="3300" b="1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buNone/>
              <a:defRPr sz="3300" b="1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buNone/>
              <a:defRPr sz="3300" b="1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buNone/>
              <a:defRPr sz="3300" b="1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buNone/>
              <a:defRPr sz="3300" b="1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buNone/>
              <a:defRPr sz="3300" b="1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buNone/>
              <a:defRPr sz="3300" b="1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rPr>
              <a:t>系统分工与工程底座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0143D798-DF88-4663-AB43-91D558673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3412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buNone/>
              <a:defRPr sz="12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buNone/>
              <a:defRPr sz="12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buNone/>
              <a:defRPr sz="12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buNone/>
              <a:defRPr sz="12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buNone/>
              <a:defRPr sz="12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buNone/>
              <a:defRPr sz="12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buNone/>
              <a:defRPr sz="12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buNone/>
              <a:defRPr sz="12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buNone/>
              <a:defRPr sz="12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rPr>
              <a:t>05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67676A-06F1-49EF-A8E7-2D7A94B16515}"/>
              </a:ext>
            </a:extLst>
          </p:cNvPr>
          <p:cNvGraphicFramePr/>
          <p:nvPr/>
        </p:nvGraphicFramePr>
        <p:xfrm>
          <a:off xmlns:a="http://schemas.openxmlformats.org/drawingml/2006/main" x="666750" y="1571625"/>
          <a:ext xmlns:a="http://schemas.openxmlformats.org/drawingml/2006/main" cx="108585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5143500"/>
                <a:gridCol w="3619500"/>
              </a:tblGrid>
              <a:tr h="666750">
                <a:tc>
                  <a:txBody>
                    <a:bodyPr lIns="152400" tIns="133350" rIns="1333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层次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6CF"/>
                      </a:solidFill>
                      <a:prstDash val="solid"/>
                    </a:lnL>
                    <a:lnR w="9525">
                      <a:solidFill>
                        <a:srgbClr val="C8D6CF"/>
                      </a:solidFill>
                      <a:prstDash val="solid"/>
                    </a:lnR>
                    <a:lnT w="9525">
                      <a:solidFill>
                        <a:srgbClr val="C8D6CF"/>
                      </a:solidFill>
                      <a:prstDash val="solid"/>
                    </a:lnT>
                    <a:lnB w="9525">
                      <a:solidFill>
                        <a:srgbClr val="C8D6CF"/>
                      </a:solidFill>
                      <a:prstDash val="solid"/>
                    </a:lnB>
                    <a:solidFill>
                      <a:srgbClr val="102D29"/>
                    </a:solidFill>
                  </a:tcPr>
                </a:tc>
                <a:tc>
                  <a:txBody>
                    <a:bodyPr lIns="152400" tIns="133350" rIns="1333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主要职责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6CF"/>
                      </a:solidFill>
                      <a:prstDash val="solid"/>
                    </a:lnR>
                    <a:lnT w="9525">
                      <a:solidFill>
                        <a:srgbClr val="C8D6CF"/>
                      </a:solidFill>
                      <a:prstDash val="solid"/>
                    </a:lnT>
                    <a:lnB w="9525">
                      <a:solidFill>
                        <a:srgbClr val="C8D6CF"/>
                      </a:solidFill>
                      <a:prstDash val="solid"/>
                    </a:lnB>
                    <a:solidFill>
                      <a:srgbClr val="102D29"/>
                    </a:solidFill>
                  </a:tcPr>
                </a:tc>
                <a:tc>
                  <a:txBody>
                    <a:bodyPr lIns="152400" tIns="133350" rIns="1333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实施方式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6CF"/>
                      </a:solidFill>
                      <a:prstDash val="solid"/>
                    </a:lnR>
                    <a:lnT w="9525">
                      <a:solidFill>
                        <a:srgbClr val="C8D6CF"/>
                      </a:solidFill>
                      <a:prstDash val="solid"/>
                    </a:lnT>
                    <a:lnB w="9525">
                      <a:solidFill>
                        <a:srgbClr val="C8D6CF"/>
                      </a:solidFill>
                      <a:prstDash val="solid"/>
                    </a:lnB>
                    <a:solidFill>
                      <a:srgbClr val="102D29"/>
                    </a:solidFill>
                  </a:tcPr>
                </a:tc>
              </a:tr>
              <a:tr h="666750">
                <a:tc>
                  <a:txBody>
                    <a:bodyPr lIns="152400" tIns="1333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A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交互与规划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6CF"/>
                      </a:solidFill>
                      <a:prstDash val="solid"/>
                    </a:lnL>
                    <a:lnR w="9525">
                      <a:solidFill>
                        <a:srgbClr val="C8D6CF"/>
                      </a:solidFill>
                      <a:prstDash val="solid"/>
                    </a:lnR>
                    <a:lnB w="9525">
                      <a:solidFill>
                        <a:srgbClr val="C8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1333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A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中文目标、约束解析、行动计划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6CF"/>
                      </a:solidFill>
                      <a:prstDash val="solid"/>
                    </a:lnR>
                    <a:lnB w="9525">
                      <a:solidFill>
                        <a:srgbClr val="C8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1333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A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本组实现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6CF"/>
                      </a:solidFill>
                      <a:prstDash val="solid"/>
                    </a:lnR>
                    <a:lnB w="9525">
                      <a:solidFill>
                        <a:srgbClr val="C8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152400" tIns="1333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A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知识与学习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6CF"/>
                      </a:solidFill>
                      <a:prstDash val="solid"/>
                    </a:lnL>
                    <a:lnR w="9525">
                      <a:solidFill>
                        <a:srgbClr val="C8D6CF"/>
                      </a:solidFill>
                      <a:prstDash val="solid"/>
                    </a:lnR>
                    <a:lnB w="9525">
                      <a:solidFill>
                        <a:srgbClr val="C8D6CF"/>
                      </a:solidFill>
                      <a:prstDash val="solid"/>
                    </a:lnB>
                    <a:solidFill>
                      <a:srgbClr val="E6EFE9"/>
                    </a:solidFill>
                  </a:tcPr>
                </a:tc>
                <a:tc>
                  <a:txBody>
                    <a:bodyPr lIns="152400" tIns="1333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A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实际配方、经验检索、技能更新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6CF"/>
                      </a:solidFill>
                      <a:prstDash val="solid"/>
                    </a:lnR>
                    <a:lnB w="9525">
                      <a:solidFill>
                        <a:srgbClr val="C8D6CF"/>
                      </a:solidFill>
                      <a:prstDash val="solid"/>
                    </a:lnB>
                    <a:solidFill>
                      <a:srgbClr val="E6EFE9"/>
                    </a:solidFill>
                  </a:tcPr>
                </a:tc>
                <a:tc>
                  <a:txBody>
                    <a:bodyPr lIns="152400" tIns="1333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A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本组实现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6CF"/>
                      </a:solidFill>
                      <a:prstDash val="solid"/>
                    </a:lnR>
                    <a:lnB w="9525">
                      <a:solidFill>
                        <a:srgbClr val="C8D6CF"/>
                      </a:solidFill>
                      <a:prstDash val="solid"/>
                    </a:lnB>
                    <a:solidFill>
                      <a:srgbClr val="E6EFE9"/>
                    </a:solidFill>
                  </a:tcPr>
                </a:tc>
              </a:tr>
              <a:tr h="666750">
                <a:tc>
                  <a:txBody>
                    <a:bodyPr lIns="152400" tIns="1333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A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验证与评测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6CF"/>
                      </a:solidFill>
                      <a:prstDash val="solid"/>
                    </a:lnL>
                    <a:lnR w="9525">
                      <a:solidFill>
                        <a:srgbClr val="C8D6CF"/>
                      </a:solidFill>
                      <a:prstDash val="solid"/>
                    </a:lnR>
                    <a:lnB w="9525">
                      <a:solidFill>
                        <a:srgbClr val="C8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1333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A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结果检查、状态重置、日志分析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6CF"/>
                      </a:solidFill>
                      <a:prstDash val="solid"/>
                    </a:lnR>
                    <a:lnB w="9525">
                      <a:solidFill>
                        <a:srgbClr val="C8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1333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A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本组实现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6CF"/>
                      </a:solidFill>
                      <a:prstDash val="solid"/>
                    </a:lnR>
                    <a:lnB w="9525">
                      <a:solidFill>
                        <a:srgbClr val="C8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152400" tIns="1333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A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游戏执行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6CF"/>
                      </a:solidFill>
                      <a:prstDash val="solid"/>
                    </a:lnL>
                    <a:lnR w="9525">
                      <a:solidFill>
                        <a:srgbClr val="C8D6CF"/>
                      </a:solidFill>
                      <a:prstDash val="solid"/>
                    </a:lnR>
                    <a:lnB w="9525">
                      <a:solidFill>
                        <a:srgbClr val="C8D6CF"/>
                      </a:solidFill>
                      <a:prstDash val="solid"/>
                    </a:lnB>
                    <a:solidFill>
                      <a:srgbClr val="E6EFE9"/>
                    </a:solidFill>
                  </a:tcPr>
                </a:tc>
                <a:tc>
                  <a:txBody>
                    <a:bodyPr lIns="152400" tIns="1333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A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移动、采集、合成与交付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6CF"/>
                      </a:solidFill>
                      <a:prstDash val="solid"/>
                    </a:lnR>
                    <a:lnB w="9525">
                      <a:solidFill>
                        <a:srgbClr val="C8D6CF"/>
                      </a:solidFill>
                      <a:prstDash val="solid"/>
                    </a:lnB>
                    <a:solidFill>
                      <a:srgbClr val="E6EFE9"/>
                    </a:solidFill>
                  </a:tcPr>
                </a:tc>
                <a:tc>
                  <a:txBody>
                    <a:bodyPr lIns="152400" tIns="1333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A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优先复用 MineMind 执行层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6CF"/>
                      </a:solidFill>
                      <a:prstDash val="solid"/>
                    </a:lnR>
                    <a:lnB w="9525">
                      <a:solidFill>
                        <a:srgbClr val="C8D6CF"/>
                      </a:solidFill>
                      <a:prstDash val="solid"/>
                    </a:lnB>
                    <a:solidFill>
                      <a:srgbClr val="E6EFE9"/>
                    </a:solidFill>
                  </a:tcPr>
                </a:tc>
              </a:tr>
            </a:tbl>
          </a:graphicData>
        </a:graphic>
      </p:graphicFrame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464DF133-4A71-4258-AB79-F9F5D7BDE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buNone/>
              <a:defRPr sz="1500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buNone/>
              <a:defRPr sz="1500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buNone/>
              <a:defRPr sz="1500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buNone/>
              <a:defRPr sz="1500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buNone/>
              <a:defRPr sz="1500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buNone/>
              <a:defRPr sz="1500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buNone/>
              <a:defRPr sz="1500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buNone/>
              <a:defRPr sz="1500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buNone/>
              <a:defRPr sz="1500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rPr>
              <a:t>第一周验证底座可行性。统一单步工具，记录隐藏递归行为</a:t>
            </a:r>
          </a:p>
        </p:txBody>
      </p:sp>
    </p:spTree>
    <p:extLst>
      <p:ext uri="{BB962C8B-B14F-4D97-AF65-F5344CB8AC3E}">
        <p14:creationId xmlns:p14="http://schemas.microsoft.com/office/powerpoint/2010/main" val="81655492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">
            <a:extLst xmlns:a="http://schemas.openxmlformats.org/drawingml/2006/main">
              <a:ext uri="{FF2B5EF4-FFF2-40B4-BE49-F238E27FC236}">
                <a16:creationId xmlns:a16="http://schemas.microsoft.com/office/drawing/2014/main" id="{E771B423-E4FB-4D2E-BFC0-5899A3E30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8966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buNone/>
              <a:defRPr sz="3300" b="1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buNone/>
              <a:defRPr sz="3300" b="1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buNone/>
              <a:defRPr sz="3300" b="1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buNone/>
              <a:defRPr sz="3300" b="1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buNone/>
              <a:defRPr sz="3300" b="1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buNone/>
              <a:defRPr sz="3300" b="1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buNone/>
              <a:defRPr sz="3300" b="1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buNone/>
              <a:defRPr sz="3300" b="1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buNone/>
              <a:defRPr sz="3300" b="1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rPr>
              <a:t>无参数更新的学习机制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B3399C50-EAEC-433D-9CDF-2B683DECA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3412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buNone/>
              <a:defRPr sz="12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buNone/>
              <a:defRPr sz="12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buNone/>
              <a:defRPr sz="12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buNone/>
              <a:defRPr sz="12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buNone/>
              <a:defRPr sz="12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buNone/>
              <a:defRPr sz="12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buNone/>
              <a:defRPr sz="12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buNone/>
              <a:defRPr sz="12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buNone/>
              <a:defRPr sz="12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rPr>
              <a:t>06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6827D5-EF13-47FE-87FA-CAF11774B0B3}"/>
              </a:ext>
            </a:extLst>
          </p:cNvPr>
          <p:cNvGraphicFramePr/>
          <p:nvPr/>
        </p:nvGraphicFramePr>
        <p:xfrm>
          <a:off xmlns:a="http://schemas.openxmlformats.org/drawingml/2006/main" x="666750" y="1714500"/>
          <a:ext xmlns:a="http://schemas.openxmlformats.org/drawingml/2006/main" cx="108585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4857750"/>
                <a:gridCol w="3810000"/>
              </a:tblGrid>
              <a:tr h="785813">
                <a:tc>
                  <a:txBody>
                    <a:bodyPr lIns="152400" tIns="133350" rIns="133350" bIns="95250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记忆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6CF"/>
                      </a:solidFill>
                      <a:prstDash val="solid"/>
                    </a:lnL>
                    <a:lnR w="9525">
                      <a:solidFill>
                        <a:srgbClr val="C8D6CF"/>
                      </a:solidFill>
                      <a:prstDash val="solid"/>
                    </a:lnR>
                    <a:lnT w="9525">
                      <a:solidFill>
                        <a:srgbClr val="C8D6CF"/>
                      </a:solidFill>
                      <a:prstDash val="solid"/>
                    </a:lnT>
                    <a:lnB w="9525">
                      <a:solidFill>
                        <a:srgbClr val="C8D6CF"/>
                      </a:solidFill>
                      <a:prstDash val="solid"/>
                    </a:lnB>
                    <a:solidFill>
                      <a:srgbClr val="102D29"/>
                    </a:solidFill>
                  </a:tcPr>
                </a:tc>
                <a:tc>
                  <a:txBody>
                    <a:bodyPr lIns="152400" tIns="133350" rIns="133350" bIns="95250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保存内容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6CF"/>
                      </a:solidFill>
                      <a:prstDash val="solid"/>
                    </a:lnR>
                    <a:lnT w="9525">
                      <a:solidFill>
                        <a:srgbClr val="C8D6CF"/>
                      </a:solidFill>
                      <a:prstDash val="solid"/>
                    </a:lnT>
                    <a:lnB w="9525">
                      <a:solidFill>
                        <a:srgbClr val="C8D6CF"/>
                      </a:solidFill>
                      <a:prstDash val="solid"/>
                    </a:lnB>
                    <a:solidFill>
                      <a:srgbClr val="102D29"/>
                    </a:solidFill>
                  </a:tcPr>
                </a:tc>
                <a:tc>
                  <a:txBody>
                    <a:bodyPr lIns="152400" tIns="133350" rIns="133350" bIns="95250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后续作用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6CF"/>
                      </a:solidFill>
                      <a:prstDash val="solid"/>
                    </a:lnR>
                    <a:lnT w="9525">
                      <a:solidFill>
                        <a:srgbClr val="C8D6CF"/>
                      </a:solidFill>
                      <a:prstDash val="solid"/>
                    </a:lnT>
                    <a:lnB w="9525">
                      <a:solidFill>
                        <a:srgbClr val="C8D6CF"/>
                      </a:solidFill>
                      <a:prstDash val="solid"/>
                    </a:lnB>
                    <a:solidFill>
                      <a:srgbClr val="102D29"/>
                    </a:solidFill>
                  </a:tcPr>
                </a:tc>
              </a:tr>
              <a:tr h="785813">
                <a:tc>
                  <a:txBody>
                    <a:bodyPr lIns="152400" tIns="133350" rIns="133350" bIns="952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52A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规则知识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6CF"/>
                      </a:solidFill>
                      <a:prstDash val="solid"/>
                    </a:lnL>
                    <a:lnR w="9525">
                      <a:solidFill>
                        <a:srgbClr val="C8D6CF"/>
                      </a:solidFill>
                      <a:prstDash val="solid"/>
                    </a:lnR>
                    <a:lnB w="9525">
                      <a:solidFill>
                        <a:srgbClr val="C8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133350" rIns="133350" bIns="952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52A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当前配方、标签、加工类型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6CF"/>
                      </a:solidFill>
                      <a:prstDash val="solid"/>
                    </a:lnR>
                    <a:lnB w="9525">
                      <a:solidFill>
                        <a:srgbClr val="C8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133350" rIns="133350" bIns="952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52A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提供实际环境约束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6CF"/>
                      </a:solidFill>
                      <a:prstDash val="solid"/>
                    </a:lnR>
                    <a:lnB w="9525">
                      <a:solidFill>
                        <a:srgbClr val="C8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85813">
                <a:tc>
                  <a:txBody>
                    <a:bodyPr lIns="152400" tIns="133350" rIns="133350" bIns="952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52A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情景经验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6CF"/>
                      </a:solidFill>
                      <a:prstDash val="solid"/>
                    </a:lnL>
                    <a:lnR w="9525">
                      <a:solidFill>
                        <a:srgbClr val="C8D6CF"/>
                      </a:solidFill>
                      <a:prstDash val="solid"/>
                    </a:lnR>
                    <a:lnB w="9525">
                      <a:solidFill>
                        <a:srgbClr val="C8D6CF"/>
                      </a:solidFill>
                      <a:prstDash val="solid"/>
                    </a:lnB>
                    <a:solidFill>
                      <a:srgbClr val="E6EFE9"/>
                    </a:solidFill>
                  </a:tcPr>
                </a:tc>
                <a:tc>
                  <a:txBody>
                    <a:bodyPr lIns="152400" tIns="133350" rIns="133350" bIns="952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52A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状态、动作、结果与证据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6CF"/>
                      </a:solidFill>
                      <a:prstDash val="solid"/>
                    </a:lnR>
                    <a:lnB w="9525">
                      <a:solidFill>
                        <a:srgbClr val="C8D6CF"/>
                      </a:solidFill>
                      <a:prstDash val="solid"/>
                    </a:lnB>
                    <a:solidFill>
                      <a:srgbClr val="E6EFE9"/>
                    </a:solidFill>
                  </a:tcPr>
                </a:tc>
                <a:tc>
                  <a:txBody>
                    <a:bodyPr lIns="152400" tIns="133350" rIns="133350" bIns="952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52A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检索相似失败与成功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6CF"/>
                      </a:solidFill>
                      <a:prstDash val="solid"/>
                    </a:lnR>
                    <a:lnB w="9525">
                      <a:solidFill>
                        <a:srgbClr val="C8D6CF"/>
                      </a:solidFill>
                      <a:prstDash val="solid"/>
                    </a:lnB>
                    <a:solidFill>
                      <a:srgbClr val="E6EFE9"/>
                    </a:solidFill>
                  </a:tcPr>
                </a:tc>
              </a:tr>
              <a:tr h="785813">
                <a:tc>
                  <a:txBody>
                    <a:bodyPr lIns="152400" tIns="133350" rIns="133350" bIns="952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52A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技能记忆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6CF"/>
                      </a:solidFill>
                      <a:prstDash val="solid"/>
                    </a:lnL>
                    <a:lnR w="9525">
                      <a:solidFill>
                        <a:srgbClr val="C8D6CF"/>
                      </a:solidFill>
                      <a:prstDash val="solid"/>
                    </a:lnR>
                    <a:lnB w="9525">
                      <a:solidFill>
                        <a:srgbClr val="C8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133350" rIns="133350" bIns="952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52A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参数、前置条件与操作序列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6CF"/>
                      </a:solidFill>
                      <a:prstDash val="solid"/>
                    </a:lnR>
                    <a:lnB w="9525">
                      <a:solidFill>
                        <a:srgbClr val="C8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133350" rIns="133350" bIns="952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52A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复用经过验证的流程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6CF"/>
                      </a:solidFill>
                      <a:prstDash val="solid"/>
                    </a:lnR>
                    <a:lnB w="9525">
                      <a:solidFill>
                        <a:srgbClr val="C8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7B6E6A51-15ED-4DD5-A19C-2E859A901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buNone/>
              <a:defRPr sz="2325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buNone/>
              <a:defRPr sz="2325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buNone/>
              <a:defRPr sz="2325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buNone/>
              <a:defRPr sz="2325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buNone/>
              <a:defRPr sz="2325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buNone/>
              <a:defRPr sz="2325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buNone/>
              <a:defRPr sz="2325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buNone/>
              <a:defRPr sz="2325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buNone/>
              <a:defRPr sz="2325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2325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rPr>
              <a:t>学习发生在外部经验库，语言模型参数保持不变</a:t>
            </a:r>
          </a:p>
        </p:txBody>
      </p:sp>
    </p:spTree>
    <p:extLst>
      <p:ext uri="{BB962C8B-B14F-4D97-AF65-F5344CB8AC3E}">
        <p14:creationId xmlns:p14="http://schemas.microsoft.com/office/powerpoint/2010/main" val="31357196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0CE4B122-6840-44D4-A20C-F38B69623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8966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buNone/>
              <a:defRPr sz="3300" b="1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buNone/>
              <a:defRPr sz="3300" b="1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buNone/>
              <a:defRPr sz="3300" b="1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buNone/>
              <a:defRPr sz="3300" b="1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buNone/>
              <a:defRPr sz="3300" b="1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buNone/>
              <a:defRPr sz="3300" b="1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buNone/>
              <a:defRPr sz="3300" b="1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buNone/>
              <a:defRPr sz="3300" b="1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buNone/>
              <a:defRPr sz="3300" b="1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rPr>
              <a:t>经验验证与技能晋升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AB3BC8EF-5687-4BFB-9949-1A93394C9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3412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buNone/>
              <a:defRPr sz="12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buNone/>
              <a:defRPr sz="12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buNone/>
              <a:defRPr sz="12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buNone/>
              <a:defRPr sz="12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buNone/>
              <a:defRPr sz="12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buNone/>
              <a:defRPr sz="12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buNone/>
              <a:defRPr sz="12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buNone/>
              <a:defRPr sz="12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buNone/>
              <a:defRPr sz="12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rPr>
              <a:t>07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F33C9AA8-387B-46A9-8328-8D594178E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5732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buNone/>
              <a:defRPr sz="2175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buNone/>
              <a:defRPr sz="2175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buNone/>
              <a:defRPr sz="2175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buNone/>
              <a:defRPr sz="2175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buNone/>
              <a:defRPr sz="2175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buNone/>
              <a:defRPr sz="2175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buNone/>
              <a:defRPr sz="2175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buNone/>
              <a:defRPr sz="2175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buNone/>
              <a:defRPr sz="2175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2175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rPr>
              <a:t>01  保存执行证据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04DB48B3-EBBA-459A-9E0F-A97D16F67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24050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buNone/>
              <a:defRPr sz="1950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buNone/>
              <a:defRPr sz="1950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buNone/>
              <a:defRPr sz="1950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buNone/>
              <a:defRPr sz="1950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buNone/>
              <a:defRPr sz="1950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buNone/>
              <a:defRPr sz="1950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buNone/>
              <a:defRPr sz="1950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buNone/>
              <a:defRPr sz="1950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buNone/>
              <a:defRPr sz="1950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rPr>
              <a:t>记录动作、状态差分、实际结果和日志来源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0249E59A-DBB7-4E6A-AB46-C9436381A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1462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buNone/>
              <a:defRPr sz="2175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buNone/>
              <a:defRPr sz="2175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buNone/>
              <a:defRPr sz="2175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buNone/>
              <a:defRPr sz="2175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buNone/>
              <a:defRPr sz="2175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buNone/>
              <a:defRPr sz="2175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buNone/>
              <a:defRPr sz="2175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buNone/>
              <a:defRPr sz="2175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buNone/>
              <a:defRPr sz="2175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2175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rPr>
              <a:t>02  抽象可复用流程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FAC324BE-13F2-4FF1-9D6B-23E7F8358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81350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buNone/>
              <a:defRPr sz="1950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buNone/>
              <a:defRPr sz="1950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buNone/>
              <a:defRPr sz="1950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buNone/>
              <a:defRPr sz="1950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buNone/>
              <a:defRPr sz="1950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buNone/>
              <a:defRPr sz="1950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buNone/>
              <a:defRPr sz="1950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buNone/>
              <a:defRPr sz="1950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buNone/>
              <a:defRPr sz="1950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rPr>
              <a:t>将数量、物品类别和位置替换为参数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26E3DFDF-69CE-4F85-8E7C-529E590DF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7192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buNone/>
              <a:defRPr sz="2175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buNone/>
              <a:defRPr sz="2175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buNone/>
              <a:defRPr sz="2175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buNone/>
              <a:defRPr sz="2175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buNone/>
              <a:defRPr sz="2175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buNone/>
              <a:defRPr sz="2175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buNone/>
              <a:defRPr sz="2175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buNone/>
              <a:defRPr sz="2175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buNone/>
              <a:defRPr sz="2175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2175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rPr>
              <a:t>03  独立复验后入库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17038D8E-7084-4341-92C5-060BA5091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38650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buNone/>
              <a:defRPr sz="1950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buNone/>
              <a:defRPr sz="1950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buNone/>
              <a:defRPr sz="1950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buNone/>
              <a:defRPr sz="1950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buNone/>
              <a:defRPr sz="1950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buNone/>
              <a:defRPr sz="1950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buNone/>
              <a:defRPr sz="1950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buNone/>
              <a:defRPr sz="1950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buNone/>
              <a:defRPr sz="1950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rPr>
              <a:t>初版要求两个重置场景复现成功，再晋升技能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8ADE63FC-3533-4EB1-AE9B-1E7CFEDD9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buNone/>
              <a:defRPr sz="1500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buNone/>
              <a:defRPr sz="1500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buNone/>
              <a:defRPr sz="1500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buNone/>
              <a:defRPr sz="1500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buNone/>
              <a:defRPr sz="1500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buNone/>
              <a:defRPr sz="1500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buNone/>
              <a:defRPr sz="1500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buNone/>
              <a:defRPr sz="1500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buNone/>
              <a:defRPr sz="1500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rPr>
              <a:t>未验证的解释保留为假设，原因不明时明确记录“未知”</a:t>
            </a:r>
          </a:p>
        </p:txBody>
      </p:sp>
    </p:spTree>
    <p:extLst>
      <p:ext uri="{BB962C8B-B14F-4D97-AF65-F5344CB8AC3E}">
        <p14:creationId xmlns:p14="http://schemas.microsoft.com/office/powerpoint/2010/main" val="179550734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">
            <a:extLst xmlns:a="http://schemas.openxmlformats.org/drawingml/2006/main">
              <a:ext uri="{FF2B5EF4-FFF2-40B4-BE49-F238E27FC236}">
                <a16:creationId xmlns:a16="http://schemas.microsoft.com/office/drawing/2014/main" id="{227432A4-D3CC-4760-A62A-5F03727CB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8966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buNone/>
              <a:defRPr sz="3300" b="1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buNone/>
              <a:defRPr sz="3300" b="1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buNone/>
              <a:defRPr sz="3300" b="1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buNone/>
              <a:defRPr sz="3300" b="1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buNone/>
              <a:defRPr sz="3300" b="1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buNone/>
              <a:defRPr sz="3300" b="1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buNone/>
              <a:defRPr sz="3300" b="1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buNone/>
              <a:defRPr sz="3300" b="1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buNone/>
              <a:defRPr sz="3300" b="1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rPr>
              <a:t>规则变化后的经验管理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660E1C46-520F-4FEF-95AC-226143994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3412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buNone/>
              <a:defRPr sz="12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buNone/>
              <a:defRPr sz="12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buNone/>
              <a:defRPr sz="12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buNone/>
              <a:defRPr sz="12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buNone/>
              <a:defRPr sz="12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buNone/>
              <a:defRPr sz="12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buNone/>
              <a:defRPr sz="12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buNone/>
              <a:defRPr sz="12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buNone/>
              <a:defRPr sz="12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rPr>
              <a:t>08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F348B4-C49E-482C-9F74-EC609185C7C1}"/>
              </a:ext>
            </a:extLst>
          </p:cNvPr>
          <p:cNvGraphicFramePr/>
          <p:nvPr/>
        </p:nvGraphicFramePr>
        <p:xfrm>
          <a:off xmlns:a="http://schemas.openxmlformats.org/drawingml/2006/main" x="666750" y="1714500"/>
          <a:ext xmlns:a="http://schemas.openxmlformats.org/drawingml/2006/main" cx="108585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5381625"/>
                <a:gridCol w="3286125"/>
              </a:tblGrid>
              <a:tr h="785813">
                <a:tc>
                  <a:txBody>
                    <a:bodyPr lIns="152400" tIns="133350" rIns="133350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检查时点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6CF"/>
                      </a:solidFill>
                      <a:prstDash val="solid"/>
                    </a:lnL>
                    <a:lnR w="9525">
                      <a:solidFill>
                        <a:srgbClr val="C8D6CF"/>
                      </a:solidFill>
                      <a:prstDash val="solid"/>
                    </a:lnR>
                    <a:lnT w="9525">
                      <a:solidFill>
                        <a:srgbClr val="C8D6CF"/>
                      </a:solidFill>
                      <a:prstDash val="solid"/>
                    </a:lnT>
                    <a:lnB w="9525">
                      <a:solidFill>
                        <a:srgbClr val="C8D6CF"/>
                      </a:solidFill>
                      <a:prstDash val="solid"/>
                    </a:lnB>
                    <a:solidFill>
                      <a:srgbClr val="102D29"/>
                    </a:solidFill>
                  </a:tcPr>
                </a:tc>
                <a:tc>
                  <a:txBody>
                    <a:bodyPr lIns="152400" tIns="133350" rIns="133350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具体检查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6CF"/>
                      </a:solidFill>
                      <a:prstDash val="solid"/>
                    </a:lnR>
                    <a:lnT w="9525">
                      <a:solidFill>
                        <a:srgbClr val="C8D6CF"/>
                      </a:solidFill>
                      <a:prstDash val="solid"/>
                    </a:lnT>
                    <a:lnB w="9525">
                      <a:solidFill>
                        <a:srgbClr val="C8D6CF"/>
                      </a:solidFill>
                      <a:prstDash val="solid"/>
                    </a:lnB>
                    <a:solidFill>
                      <a:srgbClr val="102D29"/>
                    </a:solidFill>
                  </a:tcPr>
                </a:tc>
                <a:tc>
                  <a:txBody>
                    <a:bodyPr lIns="152400" tIns="133350" rIns="133350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经验状态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6CF"/>
                      </a:solidFill>
                      <a:prstDash val="solid"/>
                    </a:lnR>
                    <a:lnT w="9525">
                      <a:solidFill>
                        <a:srgbClr val="C8D6CF"/>
                      </a:solidFill>
                      <a:prstDash val="solid"/>
                    </a:lnT>
                    <a:lnB w="9525">
                      <a:solidFill>
                        <a:srgbClr val="C8D6CF"/>
                      </a:solidFill>
                      <a:prstDash val="solid"/>
                    </a:lnB>
                    <a:solidFill>
                      <a:srgbClr val="102D29"/>
                    </a:solidFill>
                  </a:tcPr>
                </a:tc>
              </a:tr>
              <a:tr h="785813">
                <a:tc>
                  <a:txBody>
                    <a:bodyPr lIns="152400" tIns="133350" rIns="1333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2A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配置切换时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6CF"/>
                      </a:solidFill>
                      <a:prstDash val="solid"/>
                    </a:lnL>
                    <a:lnR w="9525">
                      <a:solidFill>
                        <a:srgbClr val="C8D6CF"/>
                      </a:solidFill>
                      <a:prstDash val="solid"/>
                    </a:lnR>
                    <a:lnB w="9525">
                      <a:solidFill>
                        <a:srgbClr val="C8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133350" rIns="1333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2A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相关配方与标签指纹是否改变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6CF"/>
                      </a:solidFill>
                      <a:prstDash val="solid"/>
                    </a:lnR>
                    <a:lnB w="9525">
                      <a:solidFill>
                        <a:srgbClr val="C8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133350" rIns="1333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2A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受影响技能待复验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6CF"/>
                      </a:solidFill>
                      <a:prstDash val="solid"/>
                    </a:lnR>
                    <a:lnB w="9525">
                      <a:solidFill>
                        <a:srgbClr val="C8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85813">
                <a:tc>
                  <a:txBody>
                    <a:bodyPr lIns="152400" tIns="133350" rIns="1333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2A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技能调用前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6CF"/>
                      </a:solidFill>
                      <a:prstDash val="solid"/>
                    </a:lnL>
                    <a:lnR w="9525">
                      <a:solidFill>
                        <a:srgbClr val="C8D6CF"/>
                      </a:solidFill>
                      <a:prstDash val="solid"/>
                    </a:lnR>
                    <a:lnB w="9525">
                      <a:solidFill>
                        <a:srgbClr val="C8D6CF"/>
                      </a:solidFill>
                      <a:prstDash val="solid"/>
                    </a:lnB>
                    <a:solidFill>
                      <a:srgbClr val="E6EFE9"/>
                    </a:solidFill>
                  </a:tcPr>
                </a:tc>
                <a:tc>
                  <a:txBody>
                    <a:bodyPr lIns="152400" tIns="133350" rIns="1333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2A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材料、工具、设施是否满足条件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6CF"/>
                      </a:solidFill>
                      <a:prstDash val="solid"/>
                    </a:lnR>
                    <a:lnB w="9525">
                      <a:solidFill>
                        <a:srgbClr val="C8D6CF"/>
                      </a:solidFill>
                      <a:prstDash val="solid"/>
                    </a:lnB>
                    <a:solidFill>
                      <a:srgbClr val="E6EFE9"/>
                    </a:solidFill>
                  </a:tcPr>
                </a:tc>
                <a:tc>
                  <a:txBody>
                    <a:bodyPr lIns="152400" tIns="133350" rIns="1333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2A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允许执行或重新规划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6CF"/>
                      </a:solidFill>
                      <a:prstDash val="solid"/>
                    </a:lnR>
                    <a:lnB w="9525">
                      <a:solidFill>
                        <a:srgbClr val="C8D6CF"/>
                      </a:solidFill>
                      <a:prstDash val="solid"/>
                    </a:lnB>
                    <a:solidFill>
                      <a:srgbClr val="E6EFE9"/>
                    </a:solidFill>
                  </a:tcPr>
                </a:tc>
              </a:tr>
              <a:tr h="785813">
                <a:tc>
                  <a:txBody>
                    <a:bodyPr lIns="152400" tIns="133350" rIns="1333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2A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每步执行后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6CF"/>
                      </a:solidFill>
                      <a:prstDash val="solid"/>
                    </a:lnL>
                    <a:lnR w="9525">
                      <a:solidFill>
                        <a:srgbClr val="C8D6CF"/>
                      </a:solidFill>
                      <a:prstDash val="solid"/>
                    </a:lnR>
                    <a:lnB w="9525">
                      <a:solidFill>
                        <a:srgbClr val="C8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133350" rIns="1333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2A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预期效果是否与实际一致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6CF"/>
                      </a:solidFill>
                      <a:prstDash val="solid"/>
                    </a:lnR>
                    <a:lnB w="9525">
                      <a:solidFill>
                        <a:srgbClr val="C8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133350" rIns="1333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2A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保留、降级或更新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6CF"/>
                      </a:solidFill>
                      <a:prstDash val="solid"/>
                    </a:lnR>
                    <a:lnB w="9525">
                      <a:solidFill>
                        <a:srgbClr val="C8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053416F1-090A-47EF-BC7D-897EC6CBF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buNone/>
              <a:defRPr sz="2325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buNone/>
              <a:defRPr sz="2325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buNone/>
              <a:defRPr sz="2325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buNone/>
              <a:defRPr sz="2325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buNone/>
              <a:defRPr sz="2325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buNone/>
              <a:defRPr sz="2325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buNone/>
              <a:defRPr sz="2325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buNone/>
              <a:defRPr sz="2325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buNone/>
              <a:defRPr sz="2325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2325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rPr>
              <a:t>保留未受影响的技能，更新失效的局部经验</a:t>
            </a:r>
          </a:p>
        </p:txBody>
      </p:sp>
    </p:spTree>
    <p:extLst>
      <p:ext uri="{BB962C8B-B14F-4D97-AF65-F5344CB8AC3E}">
        <p14:creationId xmlns:p14="http://schemas.microsoft.com/office/powerpoint/2010/main" val="45012218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">
            <a:extLst xmlns:a="http://schemas.openxmlformats.org/drawingml/2006/main">
              <a:ext uri="{FF2B5EF4-FFF2-40B4-BE49-F238E27FC236}">
                <a16:creationId xmlns:a16="http://schemas.microsoft.com/office/drawing/2014/main" id="{3C1E02D5-2365-453A-A05F-26A50E45F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8966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buNone/>
              <a:defRPr sz="3300" b="1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buNone/>
              <a:defRPr sz="3300" b="1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buNone/>
              <a:defRPr sz="3300" b="1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buNone/>
              <a:defRPr sz="3300" b="1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buNone/>
              <a:defRPr sz="3300" b="1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buNone/>
              <a:defRPr sz="3300" b="1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buNone/>
              <a:defRPr sz="3300" b="1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buNone/>
              <a:defRPr sz="3300" b="1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buNone/>
              <a:defRPr sz="3300" b="1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rPr>
              <a:t>计划演示场景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AC0D47F3-371E-4E44-974F-B7A3D4648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3412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buNone/>
              <a:defRPr sz="12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buNone/>
              <a:defRPr sz="12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buNone/>
              <a:defRPr sz="12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buNone/>
              <a:defRPr sz="12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buNone/>
              <a:defRPr sz="12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buNone/>
              <a:defRPr sz="12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buNone/>
              <a:defRPr sz="12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buNone/>
              <a:defRPr sz="12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buNone/>
              <a:defRPr sz="12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rPr>
              <a:t>09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C9A7E5-B4B0-4A15-B080-FACE233823E2}"/>
              </a:ext>
            </a:extLst>
          </p:cNvPr>
          <p:cNvGraphicFramePr/>
          <p:nvPr/>
        </p:nvGraphicFramePr>
        <p:xfrm>
          <a:off xmlns:a="http://schemas.openxmlformats.org/drawingml/2006/main" x="666750" y="1714500"/>
          <a:ext xmlns:a="http://schemas.openxmlformats.org/drawingml/2006/main" cx="108585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4381500"/>
                <a:gridCol w="4381500"/>
              </a:tblGrid>
              <a:tr h="785813">
                <a:tc>
                  <a:txBody>
                    <a:bodyPr lIns="152400" tIns="133350" rIns="133350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阶段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6CF"/>
                      </a:solidFill>
                      <a:prstDash val="solid"/>
                    </a:lnL>
                    <a:lnR w="9525">
                      <a:solidFill>
                        <a:srgbClr val="C8D6CF"/>
                      </a:solidFill>
                      <a:prstDash val="solid"/>
                    </a:lnR>
                    <a:lnT w="9525">
                      <a:solidFill>
                        <a:srgbClr val="C8D6CF"/>
                      </a:solidFill>
                      <a:prstDash val="solid"/>
                    </a:lnT>
                    <a:lnB w="9525">
                      <a:solidFill>
                        <a:srgbClr val="C8D6CF"/>
                      </a:solidFill>
                      <a:prstDash val="solid"/>
                    </a:lnB>
                    <a:solidFill>
                      <a:srgbClr val="102D29"/>
                    </a:solidFill>
                  </a:tcPr>
                </a:tc>
                <a:tc>
                  <a:txBody>
                    <a:bodyPr lIns="152400" tIns="133350" rIns="133350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玩家与环境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6CF"/>
                      </a:solidFill>
                      <a:prstDash val="solid"/>
                    </a:lnR>
                    <a:lnT w="9525">
                      <a:solidFill>
                        <a:srgbClr val="C8D6CF"/>
                      </a:solidFill>
                      <a:prstDash val="solid"/>
                    </a:lnT>
                    <a:lnB w="9525">
                      <a:solidFill>
                        <a:srgbClr val="C8D6CF"/>
                      </a:solidFill>
                      <a:prstDash val="solid"/>
                    </a:lnB>
                    <a:solidFill>
                      <a:srgbClr val="102D29"/>
                    </a:solidFill>
                  </a:tcPr>
                </a:tc>
                <a:tc>
                  <a:txBody>
                    <a:bodyPr lIns="152400" tIns="133350" rIns="133350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观察的系统行为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6CF"/>
                      </a:solidFill>
                      <a:prstDash val="solid"/>
                    </a:lnR>
                    <a:lnT w="9525">
                      <a:solidFill>
                        <a:srgbClr val="C8D6CF"/>
                      </a:solidFill>
                      <a:prstDash val="solid"/>
                    </a:lnT>
                    <a:lnB w="9525">
                      <a:solidFill>
                        <a:srgbClr val="C8D6CF"/>
                      </a:solidFill>
                      <a:prstDash val="solid"/>
                    </a:lnB>
                    <a:solidFill>
                      <a:srgbClr val="102D29"/>
                    </a:solidFill>
                  </a:tcPr>
                </a:tc>
              </a:tr>
              <a:tr h="785813">
                <a:tc>
                  <a:txBody>
                    <a:bodyPr lIns="152400" tIns="133350" rIns="1333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2A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首次尝试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6CF"/>
                      </a:solidFill>
                      <a:prstDash val="solid"/>
                    </a:lnL>
                    <a:lnR w="9525">
                      <a:solidFill>
                        <a:srgbClr val="C8D6CF"/>
                      </a:solidFill>
                      <a:prstDash val="solid"/>
                    </a:lnR>
                    <a:lnB w="9525">
                      <a:solidFill>
                        <a:srgbClr val="C8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133350" rIns="1333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2A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中文请求与资源保留约束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6CF"/>
                      </a:solidFill>
                      <a:prstDash val="solid"/>
                    </a:lnR>
                    <a:lnB w="9525">
                      <a:solidFill>
                        <a:srgbClr val="C8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133350" rIns="1333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2A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查询、规划、执行和证据记录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6CF"/>
                      </a:solidFill>
                      <a:prstDash val="solid"/>
                    </a:lnR>
                    <a:lnB w="9525">
                      <a:solidFill>
                        <a:srgbClr val="C8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85813">
                <a:tc>
                  <a:txBody>
                    <a:bodyPr lIns="152400" tIns="133350" rIns="1333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2A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相似任务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6CF"/>
                      </a:solidFill>
                      <a:prstDash val="solid"/>
                    </a:lnL>
                    <a:lnR w="9525">
                      <a:solidFill>
                        <a:srgbClr val="C8D6CF"/>
                      </a:solidFill>
                      <a:prstDash val="solid"/>
                    </a:lnR>
                    <a:lnB w="9525">
                      <a:solidFill>
                        <a:srgbClr val="C8D6CF"/>
                      </a:solidFill>
                      <a:prstDash val="solid"/>
                    </a:lnB>
                    <a:solidFill>
                      <a:srgbClr val="E6EFE9"/>
                    </a:solidFill>
                  </a:tcPr>
                </a:tc>
                <a:tc>
                  <a:txBody>
                    <a:bodyPr lIns="152400" tIns="133350" rIns="1333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2A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改变数量或材料实例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6CF"/>
                      </a:solidFill>
                      <a:prstDash val="solid"/>
                    </a:lnR>
                    <a:lnB w="9525">
                      <a:solidFill>
                        <a:srgbClr val="C8D6CF"/>
                      </a:solidFill>
                      <a:prstDash val="solid"/>
                    </a:lnB>
                    <a:solidFill>
                      <a:srgbClr val="E6EFE9"/>
                    </a:solidFill>
                  </a:tcPr>
                </a:tc>
                <a:tc>
                  <a:txBody>
                    <a:bodyPr lIns="152400" tIns="133350" rIns="1333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2A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检查条件，复用参数化技能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6CF"/>
                      </a:solidFill>
                      <a:prstDash val="solid"/>
                    </a:lnR>
                    <a:lnB w="9525">
                      <a:solidFill>
                        <a:srgbClr val="C8D6CF"/>
                      </a:solidFill>
                      <a:prstDash val="solid"/>
                    </a:lnB>
                    <a:solidFill>
                      <a:srgbClr val="E6EFE9"/>
                    </a:solidFill>
                  </a:tcPr>
                </a:tc>
              </a:tr>
              <a:tr h="785813">
                <a:tc>
                  <a:txBody>
                    <a:bodyPr lIns="152400" tIns="133350" rIns="1333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2A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规则变化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6CF"/>
                      </a:solidFill>
                      <a:prstDash val="solid"/>
                    </a:lnL>
                    <a:lnR w="9525">
                      <a:solidFill>
                        <a:srgbClr val="C8D6CF"/>
                      </a:solidFill>
                      <a:prstDash val="solid"/>
                    </a:lnR>
                    <a:lnB w="9525">
                      <a:solidFill>
                        <a:srgbClr val="C8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133350" rIns="1333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2A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修改相关配方配置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6CF"/>
                      </a:solidFill>
                      <a:prstDash val="solid"/>
                    </a:lnR>
                    <a:lnB w="9525">
                      <a:solidFill>
                        <a:srgbClr val="C8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133350" rIns="1333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2A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旧技能待复验，形成新版本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6CF"/>
                      </a:solidFill>
                      <a:prstDash val="solid"/>
                    </a:lnR>
                    <a:lnB w="9525">
                      <a:solidFill>
                        <a:srgbClr val="C8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77DDC206-2A8B-43ED-8CDE-57881FC9C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buNone/>
              <a:defRPr sz="1500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buNone/>
              <a:defRPr sz="1500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buNone/>
              <a:defRPr sz="1500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buNone/>
              <a:defRPr sz="1500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buNone/>
              <a:defRPr sz="1500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buNone/>
              <a:defRPr sz="1500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buNone/>
              <a:defRPr sz="1500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buNone/>
              <a:defRPr sz="1500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buNone/>
              <a:defRPr sz="1500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rPr>
              <a:t>拟定场景，尚未实施。最终使用真实游戏状态与日志演示</a:t>
            </a:r>
          </a:p>
        </p:txBody>
      </p:sp>
    </p:spTree>
    <p:extLst>
      <p:ext uri="{BB962C8B-B14F-4D97-AF65-F5344CB8AC3E}">
        <p14:creationId xmlns:p14="http://schemas.microsoft.com/office/powerpoint/2010/main" val="88401268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">
            <a:extLst xmlns:a="http://schemas.openxmlformats.org/drawingml/2006/main">
              <a:ext uri="{FF2B5EF4-FFF2-40B4-BE49-F238E27FC236}">
                <a16:creationId xmlns:a16="http://schemas.microsoft.com/office/drawing/2014/main" id="{1E92A636-0DF4-4FB2-B7F0-B6BE6CB35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8966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buNone/>
              <a:defRPr sz="3300" b="1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buNone/>
              <a:defRPr sz="3300" b="1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buNone/>
              <a:defRPr sz="3300" b="1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buNone/>
              <a:defRPr sz="3300" b="1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buNone/>
              <a:defRPr sz="3300" b="1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buNone/>
              <a:defRPr sz="3300" b="1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buNone/>
              <a:defRPr sz="3300" b="1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buNone/>
              <a:defRPr sz="3300" b="1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buNone/>
              <a:defRPr sz="3300" b="1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rPr>
              <a:t>实验对照与消融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D724C8CC-EDF5-4E19-8A2D-641EBB3C7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3412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buNone/>
              <a:defRPr sz="12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buNone/>
              <a:defRPr sz="12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buNone/>
              <a:defRPr sz="12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buNone/>
              <a:defRPr sz="12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buNone/>
              <a:defRPr sz="12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buNone/>
              <a:defRPr sz="12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buNone/>
              <a:defRPr sz="12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buNone/>
              <a:defRPr sz="12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buNone/>
              <a:defRPr sz="12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rPr>
              <a:t>10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93088C-CD30-44D1-8B9A-3E7DA22B0598}"/>
              </a:ext>
            </a:extLst>
          </p:cNvPr>
          <p:cNvGraphicFramePr/>
          <p:nvPr/>
        </p:nvGraphicFramePr>
        <p:xfrm>
          <a:off xmlns:a="http://schemas.openxmlformats.org/drawingml/2006/main" x="666750" y="1619250"/>
          <a:ext xmlns:a="http://schemas.openxmlformats.org/drawingml/2006/main" cx="108585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24000"/>
                <a:gridCol w="5334000"/>
                <a:gridCol w="4000500"/>
              </a:tblGrid>
              <a:tr h="685800">
                <a:tc>
                  <a:txBody>
                    <a:bodyPr lIns="152400" tIns="133350" rIns="133350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版本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6CF"/>
                      </a:solidFill>
                      <a:prstDash val="solid"/>
                    </a:lnL>
                    <a:lnR w="9525">
                      <a:solidFill>
                        <a:srgbClr val="C8D6CF"/>
                      </a:solidFill>
                      <a:prstDash val="solid"/>
                    </a:lnR>
                    <a:lnT w="9525">
                      <a:solidFill>
                        <a:srgbClr val="C8D6CF"/>
                      </a:solidFill>
                      <a:prstDash val="solid"/>
                    </a:lnT>
                    <a:lnB w="9525">
                      <a:solidFill>
                        <a:srgbClr val="C8D6CF"/>
                      </a:solidFill>
                      <a:prstDash val="solid"/>
                    </a:lnB>
                    <a:solidFill>
                      <a:srgbClr val="102D29"/>
                    </a:solidFill>
                  </a:tcPr>
                </a:tc>
                <a:tc>
                  <a:txBody>
                    <a:bodyPr lIns="152400" tIns="133350" rIns="133350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增加的能力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6CF"/>
                      </a:solidFill>
                      <a:prstDash val="solid"/>
                    </a:lnR>
                    <a:lnT w="9525">
                      <a:solidFill>
                        <a:srgbClr val="C8D6CF"/>
                      </a:solidFill>
                      <a:prstDash val="solid"/>
                    </a:lnT>
                    <a:lnB w="9525">
                      <a:solidFill>
                        <a:srgbClr val="C8D6CF"/>
                      </a:solidFill>
                      <a:prstDash val="solid"/>
                    </a:lnB>
                    <a:solidFill>
                      <a:srgbClr val="102D29"/>
                    </a:solidFill>
                  </a:tcPr>
                </a:tc>
                <a:tc>
                  <a:txBody>
                    <a:bodyPr lIns="152400" tIns="133350" rIns="133350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比较目的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6CF"/>
                      </a:solidFill>
                      <a:prstDash val="solid"/>
                    </a:lnR>
                    <a:lnT w="9525">
                      <a:solidFill>
                        <a:srgbClr val="C8D6CF"/>
                      </a:solidFill>
                      <a:prstDash val="solid"/>
                    </a:lnT>
                    <a:lnB w="9525">
                      <a:solidFill>
                        <a:srgbClr val="C8D6CF"/>
                      </a:solidFill>
                      <a:prstDash val="solid"/>
                    </a:lnB>
                    <a:solidFill>
                      <a:srgbClr val="102D29"/>
                    </a:solidFill>
                  </a:tcPr>
                </a:tc>
              </a:tr>
              <a:tr h="685800">
                <a:tc>
                  <a:txBody>
                    <a:bodyPr lIns="152400" tIns="133350" rIns="1333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2A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B0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6CF"/>
                      </a:solidFill>
                      <a:prstDash val="solid"/>
                    </a:lnL>
                    <a:lnR w="9525">
                      <a:solidFill>
                        <a:srgbClr val="C8D6CF"/>
                      </a:solidFill>
                      <a:prstDash val="solid"/>
                    </a:lnR>
                    <a:lnB w="9525">
                      <a:solidFill>
                        <a:srgbClr val="C8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133350" rIns="1333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2A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实时知识查询，无持久经验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6CF"/>
                      </a:solidFill>
                      <a:prstDash val="solid"/>
                    </a:lnR>
                    <a:lnB w="9525">
                      <a:solidFill>
                        <a:srgbClr val="C8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133350" rIns="1333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2A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固定基础能力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6CF"/>
                      </a:solidFill>
                      <a:prstDash val="solid"/>
                    </a:lnR>
                    <a:lnB w="9525">
                      <a:solidFill>
                        <a:srgbClr val="C8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52400" tIns="133350" rIns="1333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2A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B1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6CF"/>
                      </a:solidFill>
                      <a:prstDash val="solid"/>
                    </a:lnL>
                    <a:lnR w="9525">
                      <a:solidFill>
                        <a:srgbClr val="C8D6CF"/>
                      </a:solidFill>
                      <a:prstDash val="solid"/>
                    </a:lnR>
                    <a:lnB w="9525">
                      <a:solidFill>
                        <a:srgbClr val="C8D6CF"/>
                      </a:solidFill>
                      <a:prstDash val="solid"/>
                    </a:lnB>
                    <a:solidFill>
                      <a:srgbClr val="E6EFE9"/>
                    </a:solidFill>
                  </a:tcPr>
                </a:tc>
                <a:tc>
                  <a:txBody>
                    <a:bodyPr lIns="152400" tIns="133350" rIns="1333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2A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情景经验与检索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6CF"/>
                      </a:solidFill>
                      <a:prstDash val="solid"/>
                    </a:lnR>
                    <a:lnB w="9525">
                      <a:solidFill>
                        <a:srgbClr val="C8D6CF"/>
                      </a:solidFill>
                      <a:prstDash val="solid"/>
                    </a:lnB>
                    <a:solidFill>
                      <a:srgbClr val="E6EFE9"/>
                    </a:solidFill>
                  </a:tcPr>
                </a:tc>
                <a:tc>
                  <a:txBody>
                    <a:bodyPr lIns="152400" tIns="133350" rIns="1333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2A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检验重复错误减少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6CF"/>
                      </a:solidFill>
                      <a:prstDash val="solid"/>
                    </a:lnR>
                    <a:lnB w="9525">
                      <a:solidFill>
                        <a:srgbClr val="C8D6CF"/>
                      </a:solidFill>
                      <a:prstDash val="solid"/>
                    </a:lnB>
                    <a:solidFill>
                      <a:srgbClr val="E6EFE9"/>
                    </a:solidFill>
                  </a:tcPr>
                </a:tc>
              </a:tr>
              <a:tr h="685800">
                <a:tc>
                  <a:txBody>
                    <a:bodyPr lIns="152400" tIns="133350" rIns="1333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2A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B2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6CF"/>
                      </a:solidFill>
                      <a:prstDash val="solid"/>
                    </a:lnL>
                    <a:lnR w="9525">
                      <a:solidFill>
                        <a:srgbClr val="C8D6CF"/>
                      </a:solidFill>
                      <a:prstDash val="solid"/>
                    </a:lnR>
                    <a:lnB w="9525">
                      <a:solidFill>
                        <a:srgbClr val="C8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133350" rIns="1333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2A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参数化技能，直接复用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6CF"/>
                      </a:solidFill>
                      <a:prstDash val="solid"/>
                    </a:lnR>
                    <a:lnB w="9525">
                      <a:solidFill>
                        <a:srgbClr val="C8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133350" rIns="1333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2A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检验相似任务迁移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6CF"/>
                      </a:solidFill>
                      <a:prstDash val="solid"/>
                    </a:lnR>
                    <a:lnB w="9525">
                      <a:solidFill>
                        <a:srgbClr val="C8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52400" tIns="133350" rIns="1333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2A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B3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6CF"/>
                      </a:solidFill>
                      <a:prstDash val="solid"/>
                    </a:lnL>
                    <a:lnR w="9525">
                      <a:solidFill>
                        <a:srgbClr val="C8D6CF"/>
                      </a:solidFill>
                      <a:prstDash val="solid"/>
                    </a:lnR>
                    <a:lnB w="9525">
                      <a:solidFill>
                        <a:srgbClr val="C8D6CF"/>
                      </a:solidFill>
                      <a:prstDash val="solid"/>
                    </a:lnB>
                    <a:solidFill>
                      <a:srgbClr val="E6EFE9"/>
                    </a:solidFill>
                  </a:tcPr>
                </a:tc>
                <a:tc>
                  <a:txBody>
                    <a:bodyPr lIns="152400" tIns="133350" rIns="1333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2A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依赖指纹与失效检查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6CF"/>
                      </a:solidFill>
                      <a:prstDash val="solid"/>
                    </a:lnR>
                    <a:lnB w="9525">
                      <a:solidFill>
                        <a:srgbClr val="C8D6CF"/>
                      </a:solidFill>
                      <a:prstDash val="solid"/>
                    </a:lnB>
                    <a:solidFill>
                      <a:srgbClr val="E6EFE9"/>
                    </a:solidFill>
                  </a:tcPr>
                </a:tc>
                <a:tc>
                  <a:txBody>
                    <a:bodyPr lIns="152400" tIns="133350" rIns="1333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2A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检验规则变化适应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6CF"/>
                      </a:solidFill>
                      <a:prstDash val="solid"/>
                    </a:lnR>
                    <a:lnB w="9525">
                      <a:solidFill>
                        <a:srgbClr val="C8D6CF"/>
                      </a:solidFill>
                      <a:prstDash val="solid"/>
                    </a:lnB>
                    <a:solidFill>
                      <a:srgbClr val="E6EFE9"/>
                    </a:solidFill>
                  </a:tcPr>
                </a:tc>
              </a:tr>
            </a:tbl>
          </a:graphicData>
        </a:graphic>
      </p:graphicFrame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ED353C33-33D5-41AA-B2A2-F20BA82E5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buNone/>
              <a:defRPr sz="1500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buNone/>
              <a:defRPr sz="1500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buNone/>
              <a:defRPr sz="1500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buNone/>
              <a:defRPr sz="1500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buNone/>
              <a:defRPr sz="1500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buNone/>
              <a:defRPr sz="1500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buNone/>
              <a:defRPr sz="1500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buNone/>
              <a:defRPr sz="1500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buNone/>
              <a:defRPr sz="1500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rPr>
              <a:t>保持模型、可观察信息、工具、动作上限和超时策略一致</a:t>
            </a:r>
          </a:p>
        </p:txBody>
      </p:sp>
    </p:spTree>
    <p:extLst>
      <p:ext uri="{BB962C8B-B14F-4D97-AF65-F5344CB8AC3E}">
        <p14:creationId xmlns:p14="http://schemas.microsoft.com/office/powerpoint/2010/main" val="208532957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70500F43-88E9-4006-A579-573204851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8966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buNone/>
              <a:defRPr sz="3300" b="1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buNone/>
              <a:defRPr sz="3300" b="1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buNone/>
              <a:defRPr sz="3300" b="1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buNone/>
              <a:defRPr sz="3300" b="1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buNone/>
              <a:defRPr sz="3300" b="1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buNone/>
              <a:defRPr sz="3300" b="1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buNone/>
              <a:defRPr sz="3300" b="1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buNone/>
              <a:defRPr sz="3300" b="1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buNone/>
              <a:defRPr sz="3300" b="1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rPr>
              <a:t>评测协议与计划规模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B83C0DB2-5B7D-418B-AB6E-AFAB8FA3C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3412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buNone/>
              <a:defRPr sz="12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buNone/>
              <a:defRPr sz="12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buNone/>
              <a:defRPr sz="12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buNone/>
              <a:defRPr sz="12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buNone/>
              <a:defRPr sz="12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buNone/>
              <a:defRPr sz="12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buNone/>
              <a:defRPr sz="12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buNone/>
              <a:defRPr sz="12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buNone/>
              <a:defRPr sz="12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rPr>
              <a:t>11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B140196-234C-4879-BADA-78313A637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4476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100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buNone/>
              <a:defRPr sz="8100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buNone/>
              <a:defRPr sz="8100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buNone/>
              <a:defRPr sz="8100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buNone/>
              <a:defRPr sz="8100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buNone/>
              <a:defRPr sz="8100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buNone/>
              <a:defRPr sz="8100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buNone/>
              <a:defRPr sz="8100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buNone/>
              <a:defRPr sz="8100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buNone/>
              <a:defRPr sz="8100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8100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100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rPr>
              <a:t>432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4BC2A7DB-E938-4F11-98B4-D379CBC21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52750"/>
            <a:ext cx="4191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buNone/>
              <a:defRPr sz="2250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buNone/>
              <a:defRPr sz="2250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buNone/>
              <a:defRPr sz="2250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buNone/>
              <a:defRPr sz="2250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buNone/>
              <a:defRPr sz="2250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buNone/>
              <a:defRPr sz="2250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buNone/>
              <a:defRPr sz="2250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buNone/>
              <a:defRPr sz="2250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buNone/>
              <a:defRPr sz="2250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rPr>
              <a:t>计划主评测回合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4D14366C-DDA2-4134-9F99-4D46987FC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38300"/>
            <a:ext cx="4762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buNone/>
              <a:defRPr sz="2475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buNone/>
              <a:defRPr sz="2475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buNone/>
              <a:defRPr sz="2475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buNone/>
              <a:defRPr sz="2475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buNone/>
              <a:defRPr sz="2475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buNone/>
              <a:defRPr sz="2475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buNone/>
              <a:defRPr sz="2475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buNone/>
              <a:defRPr sz="2475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buNone/>
              <a:defRPr sz="2475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2475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75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rPr>
              <a:t>12 个任务</a:t>
            </a:r>
          </a:p>
          <a:p xmlns:a="http://schemas.openxmlformats.org/drawingml/2006/main">
            <a:pPr algn="l">
              <a:buNone/>
              <a:defRPr sz="2475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75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rPr>
              <a:t>3 个受控环境</a:t>
            </a:r>
          </a:p>
          <a:p xmlns:a="http://schemas.openxmlformats.org/drawingml/2006/main">
            <a:pPr algn="l">
              <a:buNone/>
              <a:defRPr sz="2475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75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rPr>
              <a:t>4 个系统版本</a:t>
            </a:r>
          </a:p>
          <a:p xmlns:a="http://schemas.openxmlformats.org/drawingml/2006/main">
            <a:pPr algn="l">
              <a:buNone/>
              <a:defRPr sz="2475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75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rPr>
              <a:t>3 组初始条件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52483808-E066-4294-91B0-A73A30477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14800"/>
            <a:ext cx="4953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buNone/>
              <a:defRPr sz="18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buNone/>
              <a:defRPr sz="18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buNone/>
              <a:defRPr sz="18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buNone/>
              <a:defRPr sz="18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buNone/>
              <a:defRPr sz="18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buNone/>
              <a:defRPr sz="18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buNone/>
              <a:defRPr sz="18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buNone/>
              <a:defRPr sz="18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buNone/>
              <a:defRPr sz="18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rPr>
              <a:t>适应阶段与规则变化序列另计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4928230A-36EB-4550-A9E2-156BEFBB1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buNone/>
              <a:defRPr sz="1500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buNone/>
              <a:defRPr sz="1500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buNone/>
              <a:defRPr sz="1500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buNone/>
              <a:defRPr sz="1500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buNone/>
              <a:defRPr sz="1500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buNone/>
              <a:defRPr sz="1500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buNone/>
              <a:defRPr sz="1500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buNone/>
              <a:defRPr sz="1500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buNone/>
              <a:defRPr sz="1500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rPr>
              <a:t>固定环境：冻结记忆后测试。规则变化：按相同预算在线更新</a:t>
            </a:r>
          </a:p>
        </p:txBody>
      </p:sp>
    </p:spTree>
    <p:extLst>
      <p:ext uri="{BB962C8B-B14F-4D97-AF65-F5344CB8AC3E}">
        <p14:creationId xmlns:p14="http://schemas.microsoft.com/office/powerpoint/2010/main" val="84448715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">
            <a:extLst xmlns:a="http://schemas.openxmlformats.org/drawingml/2006/main">
              <a:ext uri="{FF2B5EF4-FFF2-40B4-BE49-F238E27FC236}">
                <a16:creationId xmlns:a16="http://schemas.microsoft.com/office/drawing/2014/main" id="{9E6E3698-B494-4E52-8BD7-D3C0E6452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8966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buNone/>
              <a:defRPr sz="3300" b="1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buNone/>
              <a:defRPr sz="3300" b="1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buNone/>
              <a:defRPr sz="3300" b="1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buNone/>
              <a:defRPr sz="3300" b="1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buNone/>
              <a:defRPr sz="3300" b="1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buNone/>
              <a:defRPr sz="3300" b="1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buNone/>
              <a:defRPr sz="3300" b="1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buNone/>
              <a:defRPr sz="3300" b="1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buNone/>
              <a:defRPr sz="3300" b="1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rPr>
              <a:t>评价指标与学习证据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42EF2334-E3A0-4108-B86C-AF76C1ECD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3412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buNone/>
              <a:defRPr sz="12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buNone/>
              <a:defRPr sz="12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buNone/>
              <a:defRPr sz="12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buNone/>
              <a:defRPr sz="12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buNone/>
              <a:defRPr sz="12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buNone/>
              <a:defRPr sz="12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buNone/>
              <a:defRPr sz="12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buNone/>
              <a:defRPr sz="12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buNone/>
              <a:defRPr sz="12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rPr>
              <a:t>12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D735FB-46CD-4E09-AD6F-1A443A9C9355}"/>
              </a:ext>
            </a:extLst>
          </p:cNvPr>
          <p:cNvGraphicFramePr/>
          <p:nvPr/>
        </p:nvGraphicFramePr>
        <p:xfrm>
          <a:off xmlns:a="http://schemas.openxmlformats.org/drawingml/2006/main" x="666750" y="1657350"/>
          <a:ext xmlns:a="http://schemas.openxmlformats.org/drawingml/2006/main" cx="108585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8382000"/>
              </a:tblGrid>
              <a:tr h="685800">
                <a:tc>
                  <a:txBody>
                    <a:bodyPr lIns="152400" tIns="133350" rIns="133350" bIns="95250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评价维度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6CF"/>
                      </a:solidFill>
                      <a:prstDash val="solid"/>
                    </a:lnL>
                    <a:lnR w="9525">
                      <a:solidFill>
                        <a:srgbClr val="C8D6CF"/>
                      </a:solidFill>
                      <a:prstDash val="solid"/>
                    </a:lnR>
                    <a:lnT w="9525">
                      <a:solidFill>
                        <a:srgbClr val="C8D6CF"/>
                      </a:solidFill>
                      <a:prstDash val="solid"/>
                    </a:lnT>
                    <a:lnB w="9525">
                      <a:solidFill>
                        <a:srgbClr val="C8D6CF"/>
                      </a:solidFill>
                      <a:prstDash val="solid"/>
                    </a:lnB>
                    <a:solidFill>
                      <a:srgbClr val="102D29"/>
                    </a:solidFill>
                  </a:tcPr>
                </a:tc>
                <a:tc>
                  <a:txBody>
                    <a:bodyPr lIns="152400" tIns="133350" rIns="133350" bIns="95250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拟报告的证据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6CF"/>
                      </a:solidFill>
                      <a:prstDash val="solid"/>
                    </a:lnR>
                    <a:lnT w="9525">
                      <a:solidFill>
                        <a:srgbClr val="C8D6CF"/>
                      </a:solidFill>
                      <a:prstDash val="solid"/>
                    </a:lnT>
                    <a:lnB w="9525">
                      <a:solidFill>
                        <a:srgbClr val="C8D6CF"/>
                      </a:solidFill>
                      <a:prstDash val="solid"/>
                    </a:lnB>
                    <a:solidFill>
                      <a:srgbClr val="102D29"/>
                    </a:solidFill>
                  </a:tcPr>
                </a:tc>
              </a:tr>
              <a:tr h="685800">
                <a:tc>
                  <a:txBody>
                    <a:bodyPr lIns="152400" tIns="133350" rIns="133350" bIns="952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52A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完成质量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6CF"/>
                      </a:solidFill>
                      <a:prstDash val="solid"/>
                    </a:lnL>
                    <a:lnR w="9525">
                      <a:solidFill>
                        <a:srgbClr val="C8D6CF"/>
                      </a:solidFill>
                      <a:prstDash val="solid"/>
                    </a:lnR>
                    <a:lnB w="9525">
                      <a:solidFill>
                        <a:srgbClr val="C8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133350" rIns="133350" bIns="952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52A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自主成功率、约束违反率、人工干预比例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6CF"/>
                      </a:solidFill>
                      <a:prstDash val="solid"/>
                    </a:lnR>
                    <a:lnB w="9525">
                      <a:solidFill>
                        <a:srgbClr val="C8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52400" tIns="133350" rIns="133350" bIns="952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52A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经验利用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6CF"/>
                      </a:solidFill>
                      <a:prstDash val="solid"/>
                    </a:lnL>
                    <a:lnR w="9525">
                      <a:solidFill>
                        <a:srgbClr val="C8D6CF"/>
                      </a:solidFill>
                      <a:prstDash val="solid"/>
                    </a:lnR>
                    <a:lnB w="9525">
                      <a:solidFill>
                        <a:srgbClr val="C8D6CF"/>
                      </a:solidFill>
                      <a:prstDash val="solid"/>
                    </a:lnB>
                    <a:solidFill>
                      <a:srgbClr val="E6EFE9"/>
                    </a:solidFill>
                  </a:tcPr>
                </a:tc>
                <a:tc>
                  <a:txBody>
                    <a:bodyPr lIns="152400" tIns="133350" rIns="133350" bIns="952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52A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重复错误率、过期技能误用率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6CF"/>
                      </a:solidFill>
                      <a:prstDash val="solid"/>
                    </a:lnR>
                    <a:lnB w="9525">
                      <a:solidFill>
                        <a:srgbClr val="C8D6CF"/>
                      </a:solidFill>
                      <a:prstDash val="solid"/>
                    </a:lnB>
                    <a:solidFill>
                      <a:srgbClr val="E6EFE9"/>
                    </a:solidFill>
                  </a:tcPr>
                </a:tc>
              </a:tr>
              <a:tr h="685800">
                <a:tc>
                  <a:txBody>
                    <a:bodyPr lIns="152400" tIns="133350" rIns="133350" bIns="952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52A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适应过程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6CF"/>
                      </a:solidFill>
                      <a:prstDash val="solid"/>
                    </a:lnL>
                    <a:lnR w="9525">
                      <a:solidFill>
                        <a:srgbClr val="C8D6CF"/>
                      </a:solidFill>
                      <a:prstDash val="solid"/>
                    </a:lnR>
                    <a:lnB w="9525">
                      <a:solidFill>
                        <a:srgbClr val="C8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133350" rIns="133350" bIns="952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52A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逐轮成功率、累计错误与交互次数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6CF"/>
                      </a:solidFill>
                      <a:prstDash val="solid"/>
                    </a:lnR>
                    <a:lnB w="9525">
                      <a:solidFill>
                        <a:srgbClr val="C8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52400" tIns="133350" rIns="133350" bIns="952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52A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运行代价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6CF"/>
                      </a:solidFill>
                      <a:prstDash val="solid"/>
                    </a:lnL>
                    <a:lnR w="9525">
                      <a:solidFill>
                        <a:srgbClr val="C8D6CF"/>
                      </a:solidFill>
                      <a:prstDash val="solid"/>
                    </a:lnR>
                    <a:lnB w="9525">
                      <a:solidFill>
                        <a:srgbClr val="C8D6CF"/>
                      </a:solidFill>
                      <a:prstDash val="solid"/>
                    </a:lnB>
                    <a:solidFill>
                      <a:srgbClr val="E6EFE9"/>
                    </a:solidFill>
                  </a:tcPr>
                </a:tc>
                <a:tc>
                  <a:txBody>
                    <a:bodyPr lIns="152400" tIns="133350" rIns="133350" bIns="952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52A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原子动作、时间、tokens 与每次成功费用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6CF"/>
                      </a:solidFill>
                      <a:prstDash val="solid"/>
                    </a:lnR>
                    <a:lnB w="9525">
                      <a:solidFill>
                        <a:srgbClr val="C8D6CF"/>
                      </a:solidFill>
                      <a:prstDash val="solid"/>
                    </a:lnB>
                    <a:solidFill>
                      <a:srgbClr val="E6EFE9"/>
                    </a:solidFill>
                  </a:tcPr>
                </a:tc>
              </a:tr>
            </a:tbl>
          </a:graphicData>
        </a:graphic>
      </p:graphicFrame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D972F55B-0E66-4379-85BD-68AC03FAA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buNone/>
              <a:defRPr sz="1500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buNone/>
              <a:defRPr sz="1500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buNone/>
              <a:defRPr sz="1500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buNone/>
              <a:defRPr sz="1500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buNone/>
              <a:defRPr sz="1500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buNone/>
              <a:defRPr sz="1500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buNone/>
              <a:defRPr sz="1500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buNone/>
              <a:defRPr sz="1500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buNone/>
              <a:defRPr sz="1500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rPr>
              <a:t>未见任务用于检验复用。重置世界状态，排除材料积累的影响</a:t>
            </a:r>
          </a:p>
        </p:txBody>
      </p:sp>
    </p:spTree>
    <p:extLst>
      <p:ext uri="{BB962C8B-B14F-4D97-AF65-F5344CB8AC3E}">
        <p14:creationId xmlns:p14="http://schemas.microsoft.com/office/powerpoint/2010/main" val="46471185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B90354C2-35C0-408E-82E3-2205FB224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8966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buNone/>
              <a:defRPr sz="3300" b="1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buNone/>
              <a:defRPr sz="3300" b="1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buNone/>
              <a:defRPr sz="3300" b="1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buNone/>
              <a:defRPr sz="3300" b="1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buNone/>
              <a:defRPr sz="3300" b="1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buNone/>
              <a:defRPr sz="3300" b="1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buNone/>
              <a:defRPr sz="3300" b="1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buNone/>
              <a:defRPr sz="3300" b="1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buNone/>
              <a:defRPr sz="3300" b="1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rPr>
              <a:t>可行性与调用预算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CF5D78B0-E308-49F3-A503-AC726EDC2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3412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buNone/>
              <a:defRPr sz="12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buNone/>
              <a:defRPr sz="12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buNone/>
              <a:defRPr sz="12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buNone/>
              <a:defRPr sz="12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buNone/>
              <a:defRPr sz="12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buNone/>
              <a:defRPr sz="12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buNone/>
              <a:defRPr sz="12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buNone/>
              <a:defRPr sz="12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buNone/>
              <a:defRPr sz="12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rPr>
              <a:t>13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2C0EA268-62B0-4810-A1D2-7F1327397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52575"/>
            <a:ext cx="6572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850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buNone/>
              <a:defRPr sz="5850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buNone/>
              <a:defRPr sz="5850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buNone/>
              <a:defRPr sz="5850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buNone/>
              <a:defRPr sz="5850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buNone/>
              <a:defRPr sz="5850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buNone/>
              <a:defRPr sz="5850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buNone/>
              <a:defRPr sz="5850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buNone/>
              <a:defRPr sz="5850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buNone/>
              <a:defRPr sz="5850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5850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5850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rPr>
              <a:t>约 $32.83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C9B20A3A-7745-4C4B-BD8E-9E48F9ACB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62250"/>
            <a:ext cx="666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buNone/>
              <a:defRPr sz="2250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buNone/>
              <a:defRPr sz="2250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buNone/>
              <a:defRPr sz="2250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buNone/>
              <a:defRPr sz="2250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buNone/>
              <a:defRPr sz="2250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buNone/>
              <a:defRPr sz="2250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buNone/>
              <a:defRPr sz="2250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buNone/>
              <a:defRPr sz="2250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buNone/>
              <a:defRPr sz="2250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rPr>
              <a:t>主评测示例费用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D96E51A8-542E-4C82-830F-9C44EC4C9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76625"/>
            <a:ext cx="10382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buNone/>
              <a:defRPr sz="2100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buNone/>
              <a:defRPr sz="2100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buNone/>
              <a:defRPr sz="2100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buNone/>
              <a:defRPr sz="2100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buNone/>
              <a:defRPr sz="2100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buNone/>
              <a:defRPr sz="2100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buNone/>
              <a:defRPr sz="2100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buNone/>
              <a:defRPr sz="2100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buNone/>
              <a:defRPr sz="2100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2100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rPr>
              <a:t>432 回合，每回合 20 次调用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rPr>
              <a:t>每次输入 6,000 与输出 800 tokens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B16F306F-0574-44FC-AEC8-B5E3A122C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57750"/>
            <a:ext cx="1038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buNone/>
              <a:defRPr sz="2475" b="1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buNone/>
              <a:defRPr sz="2475" b="1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buNone/>
              <a:defRPr sz="2475" b="1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buNone/>
              <a:defRPr sz="2475" b="1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buNone/>
              <a:defRPr sz="2475" b="1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buNone/>
              <a:defRPr sz="2475" b="1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buNone/>
              <a:defRPr sz="2475" b="1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buNone/>
              <a:defRPr sz="2475" b="1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buNone/>
              <a:defRPr sz="2475" b="1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2475" b="1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75" b="1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rPr>
              <a:t>暂设 $150 调用预算上限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C384A302-F3A8-4360-A71C-237ECC3C0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buNone/>
              <a:defRPr sz="1500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buNone/>
              <a:defRPr sz="1500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buNone/>
              <a:defRPr sz="1500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buNone/>
              <a:defRPr sz="1500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buNone/>
              <a:defRPr sz="1500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buNone/>
              <a:defRPr sz="1500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buNone/>
              <a:defRPr sz="1500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buNone/>
              <a:defRPr sz="1500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buNone/>
              <a:defRPr sz="1500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rPr>
              <a:t>费用为估算。适应、预实验、重试和推理输出另计，单价见备注</a:t>
            </a:r>
          </a:p>
        </p:txBody>
      </p:sp>
    </p:spTree>
    <p:extLst>
      <p:ext uri="{BB962C8B-B14F-4D97-AF65-F5344CB8AC3E}">
        <p14:creationId xmlns:p14="http://schemas.microsoft.com/office/powerpoint/2010/main" val="94584323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">
            <a:extLst xmlns:a="http://schemas.openxmlformats.org/drawingml/2006/main">
              <a:ext uri="{FF2B5EF4-FFF2-40B4-BE49-F238E27FC236}">
                <a16:creationId xmlns:a16="http://schemas.microsoft.com/office/drawing/2014/main" id="{C43AB357-E2F4-480F-BFFB-A192B2884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8966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buNone/>
              <a:defRPr sz="3300" b="1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buNone/>
              <a:defRPr sz="3300" b="1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buNone/>
              <a:defRPr sz="3300" b="1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buNone/>
              <a:defRPr sz="3300" b="1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buNone/>
              <a:defRPr sz="3300" b="1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buNone/>
              <a:defRPr sz="3300" b="1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buNone/>
              <a:defRPr sz="3300" b="1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buNone/>
              <a:defRPr sz="3300" b="1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buNone/>
              <a:defRPr sz="3300" b="1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rPr>
              <a:t>六周实施计划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50680F25-5E6C-4BB0-A26F-8934FA038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3412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buNone/>
              <a:defRPr sz="12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buNone/>
              <a:defRPr sz="12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buNone/>
              <a:defRPr sz="12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buNone/>
              <a:defRPr sz="12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buNone/>
              <a:defRPr sz="12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buNone/>
              <a:defRPr sz="12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buNone/>
              <a:defRPr sz="12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buNone/>
              <a:defRPr sz="12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buNone/>
              <a:defRPr sz="12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rPr>
              <a:t>14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0364A7-124C-4834-B0FC-A1F0ACB8AFF5}"/>
              </a:ext>
            </a:extLst>
          </p:cNvPr>
          <p:cNvGraphicFramePr/>
          <p:nvPr/>
        </p:nvGraphicFramePr>
        <p:xfrm>
          <a:off xmlns:a="http://schemas.openxmlformats.org/drawingml/2006/main" x="666750" y="1524000"/>
          <a:ext xmlns:a="http://schemas.openxmlformats.org/drawingml/2006/main" cx="108585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8572500"/>
              </a:tblGrid>
              <a:tr h="603250">
                <a:tc>
                  <a:txBody>
                    <a:bodyPr lIns="152400" tIns="133350" rIns="133350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时间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6CF"/>
                      </a:solidFill>
                      <a:prstDash val="solid"/>
                    </a:lnL>
                    <a:lnR w="9525">
                      <a:solidFill>
                        <a:srgbClr val="C8D6CF"/>
                      </a:solidFill>
                      <a:prstDash val="solid"/>
                    </a:lnR>
                    <a:lnT w="9525">
                      <a:solidFill>
                        <a:srgbClr val="C8D6CF"/>
                      </a:solidFill>
                      <a:prstDash val="solid"/>
                    </a:lnT>
                    <a:lnB w="9525">
                      <a:solidFill>
                        <a:srgbClr val="C8D6CF"/>
                      </a:solidFill>
                      <a:prstDash val="solid"/>
                    </a:lnB>
                    <a:solidFill>
                      <a:srgbClr val="102D29"/>
                    </a:solidFill>
                  </a:tcPr>
                </a:tc>
                <a:tc>
                  <a:txBody>
                    <a:bodyPr lIns="152400" tIns="133350" rIns="133350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核心交付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6CF"/>
                      </a:solidFill>
                      <a:prstDash val="solid"/>
                    </a:lnR>
                    <a:lnT w="9525">
                      <a:solidFill>
                        <a:srgbClr val="C8D6CF"/>
                      </a:solidFill>
                      <a:prstDash val="solid"/>
                    </a:lnT>
                    <a:lnB w="9525">
                      <a:solidFill>
                        <a:srgbClr val="C8D6CF"/>
                      </a:solidFill>
                      <a:prstDash val="solid"/>
                    </a:lnB>
                    <a:solidFill>
                      <a:srgbClr val="102D29"/>
                    </a:solidFill>
                  </a:tcPr>
                </a:tc>
              </a:tr>
              <a:tr h="603250">
                <a:tc>
                  <a:txBody>
                    <a:bodyPr lIns="152400" tIns="133350" rIns="1333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2A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第 1 周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6CF"/>
                      </a:solidFill>
                      <a:prstDash val="solid"/>
                    </a:lnL>
                    <a:lnR w="9525">
                      <a:solidFill>
                        <a:srgbClr val="C8D6CF"/>
                      </a:solidFill>
                      <a:prstDash val="solid"/>
                    </a:lnR>
                    <a:lnB w="9525">
                      <a:solidFill>
                        <a:srgbClr val="C8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133350" rIns="1333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2A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执行链复现与日志，确定底座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6CF"/>
                      </a:solidFill>
                      <a:prstDash val="solid"/>
                    </a:lnR>
                    <a:lnB w="9525">
                      <a:solidFill>
                        <a:srgbClr val="C8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250">
                <a:tc>
                  <a:txBody>
                    <a:bodyPr lIns="152400" tIns="133350" rIns="1333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2A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第 2 周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6CF"/>
                      </a:solidFill>
                      <a:prstDash val="solid"/>
                    </a:lnL>
                    <a:lnR w="9525">
                      <a:solidFill>
                        <a:srgbClr val="C8D6CF"/>
                      </a:solidFill>
                      <a:prstDash val="solid"/>
                    </a:lnR>
                    <a:lnB w="9525">
                      <a:solidFill>
                        <a:srgbClr val="C8D6CF"/>
                      </a:solidFill>
                      <a:prstDash val="solid"/>
                    </a:lnB>
                    <a:solidFill>
                      <a:srgbClr val="E6EFE9"/>
                    </a:solidFill>
                  </a:tcPr>
                </a:tc>
                <a:tc>
                  <a:txBody>
                    <a:bodyPr lIns="152400" tIns="133350" rIns="1333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2A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中文目标、实际配方查询与 B0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6CF"/>
                      </a:solidFill>
                      <a:prstDash val="solid"/>
                    </a:lnR>
                    <a:lnB w="9525">
                      <a:solidFill>
                        <a:srgbClr val="C8D6CF"/>
                      </a:solidFill>
                      <a:prstDash val="solid"/>
                    </a:lnB>
                    <a:solidFill>
                      <a:srgbClr val="E6EFE9"/>
                    </a:solidFill>
                  </a:tcPr>
                </a:tc>
              </a:tr>
              <a:tr h="603250">
                <a:tc>
                  <a:txBody>
                    <a:bodyPr lIns="152400" tIns="133350" rIns="1333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2A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第 3–4 周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6CF"/>
                      </a:solidFill>
                      <a:prstDash val="solid"/>
                    </a:lnL>
                    <a:lnR w="9525">
                      <a:solidFill>
                        <a:srgbClr val="C8D6CF"/>
                      </a:solidFill>
                      <a:prstDash val="solid"/>
                    </a:lnR>
                    <a:lnB w="9525">
                      <a:solidFill>
                        <a:srgbClr val="C8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133350" rIns="1333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2A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经验检索 B1 与参数化技能 B2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6CF"/>
                      </a:solidFill>
                      <a:prstDash val="solid"/>
                    </a:lnR>
                    <a:lnB w="9525">
                      <a:solidFill>
                        <a:srgbClr val="C8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250">
                <a:tc>
                  <a:txBody>
                    <a:bodyPr lIns="152400" tIns="133350" rIns="1333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2A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第 5 周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6CF"/>
                      </a:solidFill>
                      <a:prstDash val="solid"/>
                    </a:lnL>
                    <a:lnR w="9525">
                      <a:solidFill>
                        <a:srgbClr val="C8D6CF"/>
                      </a:solidFill>
                      <a:prstDash val="solid"/>
                    </a:lnR>
                    <a:lnB w="9525">
                      <a:solidFill>
                        <a:srgbClr val="C8D6CF"/>
                      </a:solidFill>
                      <a:prstDash val="solid"/>
                    </a:lnB>
                    <a:solidFill>
                      <a:srgbClr val="E6EFE9"/>
                    </a:solidFill>
                  </a:tcPr>
                </a:tc>
                <a:tc>
                  <a:txBody>
                    <a:bodyPr lIns="152400" tIns="133350" rIns="1333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2A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依赖指纹、失效检查与 B3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6CF"/>
                      </a:solidFill>
                      <a:prstDash val="solid"/>
                    </a:lnR>
                    <a:lnB w="9525">
                      <a:solidFill>
                        <a:srgbClr val="C8D6CF"/>
                      </a:solidFill>
                      <a:prstDash val="solid"/>
                    </a:lnB>
                    <a:solidFill>
                      <a:srgbClr val="E6EFE9"/>
                    </a:solidFill>
                  </a:tcPr>
                </a:tc>
              </a:tr>
              <a:tr h="603250">
                <a:tc>
                  <a:txBody>
                    <a:bodyPr lIns="152400" tIns="133350" rIns="1333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2A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第 6 周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6CF"/>
                      </a:solidFill>
                      <a:prstDash val="solid"/>
                    </a:lnL>
                    <a:lnR w="9525">
                      <a:solidFill>
                        <a:srgbClr val="C8D6CF"/>
                      </a:solidFill>
                      <a:prstDash val="solid"/>
                    </a:lnR>
                    <a:lnB w="9525">
                      <a:solidFill>
                        <a:srgbClr val="C8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133350" rIns="1333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2A2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冻结配置、批量评测与答辩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6CF"/>
                      </a:solidFill>
                      <a:prstDash val="solid"/>
                    </a:lnR>
                    <a:lnB w="9525">
                      <a:solidFill>
                        <a:srgbClr val="C8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2D0D0716-ABF4-49C1-852E-F48A457EF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buNone/>
              <a:defRPr sz="1500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buNone/>
              <a:defRPr sz="1500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buNone/>
              <a:defRPr sz="1500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buNone/>
              <a:defRPr sz="1500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buNone/>
              <a:defRPr sz="1500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buNone/>
              <a:defRPr sz="1500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buNone/>
              <a:defRPr sz="1500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buNone/>
              <a:defRPr sz="1500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buNone/>
              <a:defRPr sz="1500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rPr>
              <a:t>接口、规划、学习、评测按职责分工，具体成员待填写</a:t>
            </a:r>
          </a:p>
        </p:txBody>
      </p:sp>
    </p:spTree>
    <p:extLst>
      <p:ext uri="{BB962C8B-B14F-4D97-AF65-F5344CB8AC3E}">
        <p14:creationId xmlns:p14="http://schemas.microsoft.com/office/powerpoint/2010/main" val="26010376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6D031836-FEAE-45C4-BF34-BE2EBF5ED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8966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buNone/>
              <a:defRPr sz="3300" b="1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buNone/>
              <a:defRPr sz="3300" b="1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buNone/>
              <a:defRPr sz="3300" b="1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buNone/>
              <a:defRPr sz="3300" b="1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buNone/>
              <a:defRPr sz="3300" b="1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buNone/>
              <a:defRPr sz="3300" b="1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buNone/>
              <a:defRPr sz="3300" b="1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buNone/>
              <a:defRPr sz="3300" b="1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buNone/>
              <a:defRPr sz="3300" b="1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rPr>
              <a:t>预期贡献与验收成果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E387BFFE-402C-49B6-9C9B-90FB59F4B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3412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buNone/>
              <a:defRPr sz="12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buNone/>
              <a:defRPr sz="12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buNone/>
              <a:defRPr sz="12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buNone/>
              <a:defRPr sz="12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buNone/>
              <a:defRPr sz="12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buNone/>
              <a:defRPr sz="12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buNone/>
              <a:defRPr sz="12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buNone/>
              <a:defRPr sz="12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buNone/>
              <a:defRPr sz="12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rPr>
              <a:t>15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AD93A4FE-DBCE-4A9B-8466-BC36C760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buNone/>
              <a:defRPr sz="2175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buNone/>
              <a:defRPr sz="2175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buNone/>
              <a:defRPr sz="2175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buNone/>
              <a:defRPr sz="2175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buNone/>
              <a:defRPr sz="2175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buNone/>
              <a:defRPr sz="2175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buNone/>
              <a:defRPr sz="2175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buNone/>
              <a:defRPr sz="2175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buNone/>
              <a:defRPr sz="2175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2175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rPr>
              <a:t>拟研究的方法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2FFE0E1C-5F18-464A-9D3E-37AC99FB3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43100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buNone/>
              <a:defRPr sz="1950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buNone/>
              <a:defRPr sz="1950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buNone/>
              <a:defRPr sz="1950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buNone/>
              <a:defRPr sz="1950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buNone/>
              <a:defRPr sz="1950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buNone/>
              <a:defRPr sz="1950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buNone/>
              <a:defRPr sz="1950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buNone/>
              <a:defRPr sz="1950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buNone/>
              <a:defRPr sz="1950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rPr>
              <a:t>经验依赖表示、证据约束晋升与局部失效更新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6B4CE4C0-575D-444F-A820-B58A232DB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buNone/>
              <a:defRPr sz="2175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buNone/>
              <a:defRPr sz="2175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buNone/>
              <a:defRPr sz="2175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buNone/>
              <a:defRPr sz="2175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buNone/>
              <a:defRPr sz="2175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buNone/>
              <a:defRPr sz="2175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buNone/>
              <a:defRPr sz="2175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buNone/>
              <a:defRPr sz="2175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buNone/>
              <a:defRPr sz="2175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2175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rPr>
              <a:t>可交付的系统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FAA97D0B-D197-4252-A0F3-BFC208494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28975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buNone/>
              <a:defRPr sz="1950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buNone/>
              <a:defRPr sz="1950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buNone/>
              <a:defRPr sz="1950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buNone/>
              <a:defRPr sz="1950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buNone/>
              <a:defRPr sz="1950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buNone/>
              <a:defRPr sz="1950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buNone/>
              <a:defRPr sz="1950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buNone/>
              <a:defRPr sz="1950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buNone/>
              <a:defRPr sz="1950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rPr>
              <a:t>中文交互原型、版本化经验库、规则变化演示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5BF13E94-60E6-412E-B5E4-81483C43B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4812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buNone/>
              <a:defRPr sz="2175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buNone/>
              <a:defRPr sz="2175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buNone/>
              <a:defRPr sz="2175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buNone/>
              <a:defRPr sz="2175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buNone/>
              <a:defRPr sz="2175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buNone/>
              <a:defRPr sz="2175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buNone/>
              <a:defRPr sz="2175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buNone/>
              <a:defRPr sz="2175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buNone/>
              <a:defRPr sz="2175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2175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rPr>
              <a:t>可复现的证据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6FBD69FA-9A87-418F-BB32-4B0DCC0C2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14850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buNone/>
              <a:defRPr sz="1950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buNone/>
              <a:defRPr sz="1950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buNone/>
              <a:defRPr sz="1950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buNone/>
              <a:defRPr sz="1950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buNone/>
              <a:defRPr sz="1950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buNone/>
              <a:defRPr sz="1950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buNone/>
              <a:defRPr sz="1950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buNone/>
              <a:defRPr sz="1950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buNone/>
              <a:defRPr sz="1950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rPr>
              <a:t>任务配置、重置脚本、完整日志与四版本消融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223807A6-7987-4DF7-B102-925206E6E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buNone/>
              <a:defRPr sz="1500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buNone/>
              <a:defRPr sz="1500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buNone/>
              <a:defRPr sz="1500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buNone/>
              <a:defRPr sz="1500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buNone/>
              <a:defRPr sz="1500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buNone/>
              <a:defRPr sz="1500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buNone/>
              <a:defRPr sz="1500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buNone/>
              <a:defRPr sz="1500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buNone/>
              <a:defRPr sz="1500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rPr>
              <a:t>效果有待实验验证，结论范围限于所测试配置与动作集合</a:t>
            </a:r>
          </a:p>
        </p:txBody>
      </p:sp>
    </p:spTree>
    <p:extLst>
      <p:ext uri="{BB962C8B-B14F-4D97-AF65-F5344CB8AC3E}">
        <p14:creationId xmlns:p14="http://schemas.microsoft.com/office/powerpoint/2010/main" val="124688460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0">
            <a:extLst xmlns:a="http://schemas.openxmlformats.org/drawingml/2006/main">
              <a:ext uri="{FF2B5EF4-FFF2-40B4-BE49-F238E27FC236}">
                <a16:creationId xmlns:a16="http://schemas.microsoft.com/office/drawing/2014/main" id="{70B7BB4D-CFC0-45EA-98C5-7541C9F1B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8966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buNone/>
              <a:defRPr sz="3300" b="1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buNone/>
              <a:defRPr sz="3300" b="1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buNone/>
              <a:defRPr sz="3300" b="1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buNone/>
              <a:defRPr sz="3300" b="1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buNone/>
              <a:defRPr sz="3300" b="1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buNone/>
              <a:defRPr sz="3300" b="1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buNone/>
              <a:defRPr sz="3300" b="1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buNone/>
              <a:defRPr sz="3300" b="1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buNone/>
              <a:defRPr sz="3300" b="1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rPr>
              <a:t>参考资料与讨论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3F2A25F0-85B3-40C2-A830-8DF9FFE24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3412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buNone/>
              <a:defRPr sz="12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buNone/>
              <a:defRPr sz="12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buNone/>
              <a:defRPr sz="12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buNone/>
              <a:defRPr sz="12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buNone/>
              <a:defRPr sz="12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buNone/>
              <a:defRPr sz="12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buNone/>
              <a:defRPr sz="12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buNone/>
              <a:defRPr sz="12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buNone/>
              <a:defRPr sz="12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rPr>
              <a:t>16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0C5ED580-6D0C-4EEC-ACBD-A75AE8652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6210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buNone/>
              <a:defRPr sz="1950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buNone/>
              <a:defRPr sz="1950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buNone/>
              <a:defRPr sz="1950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buNone/>
              <a:defRPr sz="1950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buNone/>
              <a:defRPr sz="1950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buNone/>
              <a:defRPr sz="1950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buNone/>
              <a:defRPr sz="1950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buNone/>
              <a:defRPr sz="1950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buNone/>
              <a:defRPr sz="1950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1950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rPr>
              <a:t>[1] Voyager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A539DC6A-E998-4716-A137-47D0C2B6B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58115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buNone/>
              <a:defRPr sz="1725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buNone/>
              <a:defRPr sz="1725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buNone/>
              <a:defRPr sz="1725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buNone/>
              <a:defRPr sz="1725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buNone/>
              <a:defRPr sz="1725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buNone/>
              <a:defRPr sz="1725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buNone/>
              <a:defRPr sz="1725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buNone/>
              <a:defRPr sz="1725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buNone/>
              <a:defRPr sz="1725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rPr>
              <a:t>arxiv.org/abs/2305.16291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7782AE14-DFEC-4F57-AF9D-AD4C772F1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95525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buNone/>
              <a:defRPr sz="1950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buNone/>
              <a:defRPr sz="1950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buNone/>
              <a:defRPr sz="1950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buNone/>
              <a:defRPr sz="1950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buNone/>
              <a:defRPr sz="1950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buNone/>
              <a:defRPr sz="1950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buNone/>
              <a:defRPr sz="1950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buNone/>
              <a:defRPr sz="1950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buNone/>
              <a:defRPr sz="1950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1950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rPr>
              <a:t>[2] Reflexion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10B8550E-1E61-4E28-95BF-0F02E799A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314575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buNone/>
              <a:defRPr sz="1725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buNone/>
              <a:defRPr sz="1725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buNone/>
              <a:defRPr sz="1725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buNone/>
              <a:defRPr sz="1725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buNone/>
              <a:defRPr sz="1725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buNone/>
              <a:defRPr sz="1725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buNone/>
              <a:defRPr sz="1725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buNone/>
              <a:defRPr sz="1725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buNone/>
              <a:defRPr sz="1725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rPr>
              <a:t>arxiv.org/abs/2303.11366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17DB1290-2673-4A32-8077-890050EB6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2895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buNone/>
              <a:defRPr sz="1950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buNone/>
              <a:defRPr sz="1950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buNone/>
              <a:defRPr sz="1950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buNone/>
              <a:defRPr sz="1950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buNone/>
              <a:defRPr sz="1950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buNone/>
              <a:defRPr sz="1950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buNone/>
              <a:defRPr sz="1950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buNone/>
              <a:defRPr sz="1950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buNone/>
              <a:defRPr sz="1950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1950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rPr>
              <a:t>[3] Mindcraft 官方 FAQ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B12FB57B-526C-4E4F-A7C3-14E5C70A4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04800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buNone/>
              <a:defRPr sz="1725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buNone/>
              <a:defRPr sz="1725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buNone/>
              <a:defRPr sz="1725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buNone/>
              <a:defRPr sz="1725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buNone/>
              <a:defRPr sz="1725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buNone/>
              <a:defRPr sz="1725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buNone/>
              <a:defRPr sz="1725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buNone/>
              <a:defRPr sz="1725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buNone/>
              <a:defRPr sz="1725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rPr>
              <a:t>github.com/mindcraft-bots/mindcraft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B0616B4C-47FE-4183-B56F-4F73077AC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762375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buNone/>
              <a:defRPr sz="1950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buNone/>
              <a:defRPr sz="1950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buNone/>
              <a:defRPr sz="1950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buNone/>
              <a:defRPr sz="1950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buNone/>
              <a:defRPr sz="1950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buNone/>
              <a:defRPr sz="1950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buNone/>
              <a:defRPr sz="1950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buNone/>
              <a:defRPr sz="1950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buNone/>
              <a:defRPr sz="1950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1950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rPr>
              <a:t>[4] MineMind 与规划源码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8EF94676-065B-4344-BA97-4202C39F1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781425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buNone/>
              <a:defRPr sz="1725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buNone/>
              <a:defRPr sz="1725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buNone/>
              <a:defRPr sz="1725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buNone/>
              <a:defRPr sz="1725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buNone/>
              <a:defRPr sz="1725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buNone/>
              <a:defRPr sz="1725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buNone/>
              <a:defRPr sz="1725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buNone/>
              <a:defRPr sz="1725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buNone/>
              <a:defRPr sz="1725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rPr>
              <a:t>github.com/Boyan253/minemind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4E13877C-1860-454E-97FB-CD3DE45C7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49580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buNone/>
              <a:defRPr sz="1950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buNone/>
              <a:defRPr sz="1950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buNone/>
              <a:defRPr sz="1950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buNone/>
              <a:defRPr sz="1950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buNone/>
              <a:defRPr sz="1950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buNone/>
              <a:defRPr sz="1950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buNone/>
              <a:defRPr sz="1950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buNone/>
              <a:defRPr sz="1950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buNone/>
              <a:defRPr sz="1950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1950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19745C"/>
                </a:solidFill>
                <a:latin typeface="Noto Sans CJK SC"/>
                <a:ea typeface="Noto Sans CJK SC"/>
                <a:cs typeface="Noto Sans CJK SC"/>
              </a:rPr>
              <a:t>[5] 模型 API 定价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964DE751-28A5-4FEC-9218-1ACE95AA9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51485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buNone/>
              <a:defRPr sz="1725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buNone/>
              <a:defRPr sz="1725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buNone/>
              <a:defRPr sz="1725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buNone/>
              <a:defRPr sz="1725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buNone/>
              <a:defRPr sz="1725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buNone/>
              <a:defRPr sz="1725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buNone/>
              <a:defRPr sz="1725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buNone/>
              <a:defRPr sz="1725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buNone/>
              <a:defRPr sz="1725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152A2A"/>
                </a:solidFill>
                <a:latin typeface="Noto Sans CJK SC"/>
                <a:ea typeface="Noto Sans CJK SC"/>
                <a:cs typeface="Noto Sans CJK SC"/>
              </a:rPr>
              <a:t>ai.google.dev/gemini-api/docs/pricing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79EECA67-7BE7-421A-A405-83EFC6041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buNone/>
              <a:defRPr sz="1500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buNone/>
              <a:defRPr sz="1500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buNone/>
              <a:defRPr sz="1500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buNone/>
              <a:defRPr sz="1500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buNone/>
              <a:defRPr sz="1500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buNone/>
              <a:defRPr sz="1500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buNone/>
              <a:defRPr sz="1500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buNone/>
              <a:defRPr sz="1500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buNone/>
              <a:defRPr sz="1500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546764"/>
                </a:solidFill>
                <a:latin typeface="Noto Sans CJK SC"/>
                <a:ea typeface="Noto Sans CJK SC"/>
                <a:cs typeface="Noto Sans CJK SC"/>
              </a:rPr>
              <a:t>资料访问日期 2026 年 10 月 27 日。配套报告包含完整链接与边界说明</a:t>
            </a:r>
          </a:p>
        </p:txBody>
      </p:sp>
    </p:spTree>
    <p:extLst>
      <p:ext uri="{BB962C8B-B14F-4D97-AF65-F5344CB8AC3E}">
        <p14:creationId xmlns:p14="http://schemas.microsoft.com/office/powerpoint/2010/main" val="15821327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2026-10-26T23:56:47.8540000Z</dcterms:created>
  <dcterms:modified xsi:type="dcterms:W3CDTF">2026-10-26T23:56:47.8540000Z</dcterms:modified>
</coreProperties>
</file>